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143500" cx="9144000"/>
  <p:notesSz cx="6858000" cy="9144000"/>
  <p:embeddedFontLst>
    <p:embeddedFont>
      <p:font typeface="DM Sans Black"/>
      <p:bold r:id="rId26"/>
      <p:boldItalic r:id="rId27"/>
    </p:embeddedFont>
    <p:embeddedFont>
      <p:font typeface="DM Sans Light"/>
      <p:regular r:id="rId28"/>
      <p:bold r:id="rId29"/>
      <p:italic r:id="rId30"/>
      <p:boldItalic r:id="rId31"/>
    </p:embeddedFont>
    <p:embeddedFont>
      <p:font typeface="DM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MSansBlack-bold.fntdata"/><Relationship Id="rId25" Type="http://schemas.openxmlformats.org/officeDocument/2006/relationships/slide" Target="slides/slide21.xml"/><Relationship Id="rId28" Type="http://schemas.openxmlformats.org/officeDocument/2006/relationships/font" Target="fonts/DMSansLight-regular.fntdata"/><Relationship Id="rId27" Type="http://schemas.openxmlformats.org/officeDocument/2006/relationships/font" Target="fonts/DMSansBlack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MSansLigh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DMSansLight-boldItalic.fntdata"/><Relationship Id="rId30" Type="http://schemas.openxmlformats.org/officeDocument/2006/relationships/font" Target="fonts/DMSansLight-italic.fntdata"/><Relationship Id="rId11" Type="http://schemas.openxmlformats.org/officeDocument/2006/relationships/slide" Target="slides/slide7.xml"/><Relationship Id="rId33" Type="http://schemas.openxmlformats.org/officeDocument/2006/relationships/font" Target="fonts/DMSans-bold.fntdata"/><Relationship Id="rId10" Type="http://schemas.openxmlformats.org/officeDocument/2006/relationships/slide" Target="slides/slide6.xml"/><Relationship Id="rId32" Type="http://schemas.openxmlformats.org/officeDocument/2006/relationships/font" Target="fonts/DMSans-regular.fntdata"/><Relationship Id="rId13" Type="http://schemas.openxmlformats.org/officeDocument/2006/relationships/slide" Target="slides/slide9.xml"/><Relationship Id="rId35" Type="http://schemas.openxmlformats.org/officeDocument/2006/relationships/font" Target="fonts/DMSans-boldItalic.fntdata"/><Relationship Id="rId12" Type="http://schemas.openxmlformats.org/officeDocument/2006/relationships/slide" Target="slides/slide8.xml"/><Relationship Id="rId34" Type="http://schemas.openxmlformats.org/officeDocument/2006/relationships/font" Target="fonts/DMSans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f6cacf5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f6cacf5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beb849bd3_0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6beb849bd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6beb849bd3_0_1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6beb849bd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6f6cacf5ab_0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g36f6cacf5a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6f6cacf5ab_0_1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g36f6cacf5ab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6f6cacf5ab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6f6cacf5ab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4000" y="4724626"/>
            <a:ext cx="165175" cy="22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/>
        </p:nvSpPr>
        <p:spPr>
          <a:xfrm>
            <a:off x="1122600" y="4756825"/>
            <a:ext cx="1014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bg>
      <p:bgPr>
        <a:solidFill>
          <a:schemeClr val="lt2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342900" y="343100"/>
            <a:ext cx="8453700" cy="4457700"/>
          </a:xfrm>
          <a:prstGeom prst="roundRect">
            <a:avLst>
              <a:gd fmla="val 2855" name="adj"/>
            </a:avLst>
          </a:prstGeom>
          <a:solidFill>
            <a:srgbClr val="262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572000" y="694950"/>
            <a:ext cx="5673300" cy="35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subTitle"/>
          </p:nvPr>
        </p:nvSpPr>
        <p:spPr>
          <a:xfrm>
            <a:off x="572001" y="4206550"/>
            <a:ext cx="56733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DM Sans"/>
              <a:buNone/>
              <a:defRPr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DM Sans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DM Sans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DM Sans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DM Sans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DM Sans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DM Sans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DM Sans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DM Sans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385">
          <p15:clr>
            <a:schemeClr val="accent3"/>
          </p15:clr>
        </p15:guide>
        <p15:guide id="2" pos="1604">
          <p15:clr>
            <a:schemeClr val="accent3"/>
          </p15:clr>
        </p15:guide>
        <p15:guide id="3" pos="2771">
          <p15:clr>
            <a:srgbClr val="E46962"/>
          </p15:clr>
        </p15:guide>
        <p15:guide id="4" pos="2989">
          <p15:clr>
            <a:srgbClr val="E46962"/>
          </p15:clr>
        </p15:guide>
        <p15:guide id="5" pos="4156">
          <p15:clr>
            <a:srgbClr val="E46962"/>
          </p15:clr>
        </p15:guide>
        <p15:guide id="6" pos="4375">
          <p15:clr>
            <a:srgbClr val="E46962"/>
          </p15:clr>
        </p15:guide>
        <p15:guide id="7" orient="horz" pos="438">
          <p15:clr>
            <a:schemeClr val="accent3"/>
          </p15:clr>
        </p15:guide>
        <p15:guide id="8" orient="horz" pos="2802">
          <p15:clr>
            <a:schemeClr val="accent3"/>
          </p15:clr>
        </p15:guide>
        <p15:guide id="9" pos="5322">
          <p15:clr>
            <a:schemeClr val="accent3"/>
          </p15:clr>
        </p15:guide>
        <p15:guide id="10" pos="438">
          <p15:clr>
            <a:schemeClr val="accent3"/>
          </p15:clr>
        </p15:guide>
        <p15:guide id="11" pos="1164">
          <p15:clr>
            <a:schemeClr val="accent3"/>
          </p15:clr>
        </p15:guide>
        <p15:guide id="12" pos="1820">
          <p15:clr>
            <a:schemeClr val="accent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 (Gray) 1 1">
  <p:cSld name="CUSTOM_2_1_1_1">
    <p:bg>
      <p:bgPr>
        <a:solidFill>
          <a:srgbClr val="EEEEEE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342900" y="1065900"/>
            <a:ext cx="8453700" cy="3518700"/>
          </a:xfrm>
          <a:prstGeom prst="roundRect">
            <a:avLst>
              <a:gd fmla="val 321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94425" y="2230900"/>
            <a:ext cx="37341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470425" y="846075"/>
            <a:ext cx="3758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461275" y="1102100"/>
            <a:ext cx="3767400" cy="14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26" name="Google Shape;2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4000" y="4724626"/>
            <a:ext cx="165175" cy="22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/>
          <p:nvPr/>
        </p:nvSpPr>
        <p:spPr>
          <a:xfrm>
            <a:off x="5334325" y="4822125"/>
            <a:ext cx="2692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4C4C4"/>
                </a:solidFill>
                <a:latin typeface="DM Sans"/>
                <a:ea typeface="DM Sans"/>
                <a:cs typeface="DM Sans"/>
                <a:sym typeface="DM Sans"/>
              </a:rPr>
              <a:t>© 2025 Global Payments Inc. All rights reserved.</a:t>
            </a:r>
            <a:endParaRPr b="0" i="0" sz="700" u="none" cap="none" strike="noStrike">
              <a:solidFill>
                <a:srgbClr val="C4C4C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8407400" y="4829775"/>
            <a:ext cx="32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C4C4C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600" u="none" cap="none" strike="noStrike">
              <a:solidFill>
                <a:srgbClr val="C4C4C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480">
          <p15:clr>
            <a:srgbClr val="E46962"/>
          </p15:clr>
        </p15:guide>
        <p15:guide id="2" pos="2808">
          <p15:clr>
            <a:srgbClr val="E46962"/>
          </p15:clr>
        </p15:guide>
        <p15:guide id="3" pos="2949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4000" y="187325"/>
            <a:ext cx="833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DM Sans Black"/>
              <a:buNone/>
              <a:defRPr b="0" i="0" sz="3200" u="none" cap="none" strike="noStrike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DM Sans Black"/>
              <a:buNone/>
              <a:defRPr b="0" i="0" sz="3200" u="none" cap="none" strike="noStrike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DM Sans Black"/>
              <a:buNone/>
              <a:defRPr b="0" i="0" sz="3200" u="none" cap="none" strike="noStrike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DM Sans Black"/>
              <a:buNone/>
              <a:defRPr b="0" i="0" sz="3200" u="none" cap="none" strike="noStrike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DM Sans Black"/>
              <a:buNone/>
              <a:defRPr b="0" i="0" sz="3200" u="none" cap="none" strike="noStrike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DM Sans Black"/>
              <a:buNone/>
              <a:defRPr b="0" i="0" sz="3200" u="none" cap="none" strike="noStrike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DM Sans Black"/>
              <a:buNone/>
              <a:defRPr b="0" i="0" sz="3200" u="none" cap="none" strike="noStrike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DM Sans Black"/>
              <a:buNone/>
              <a:defRPr b="0" i="0" sz="3200" u="none" cap="none" strike="noStrike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DM Sans Black"/>
              <a:buNone/>
              <a:defRPr b="0" i="0" sz="3200" u="none" cap="none" strike="noStrike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●"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886800" y="4128600"/>
            <a:ext cx="11037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"/>
          <p:cNvSpPr txBox="1"/>
          <p:nvPr/>
        </p:nvSpPr>
        <p:spPr>
          <a:xfrm>
            <a:off x="914175" y="4088675"/>
            <a:ext cx="994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4000" y="4724626"/>
            <a:ext cx="165175" cy="22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5334325" y="4822125"/>
            <a:ext cx="2692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C4C4C4"/>
                </a:solidFill>
                <a:latin typeface="DM Sans"/>
                <a:ea typeface="DM Sans"/>
                <a:cs typeface="DM Sans"/>
                <a:sym typeface="DM Sans"/>
              </a:rPr>
              <a:t>© 2025 Global Payments Inc. All rights reserved.</a:t>
            </a:r>
            <a:endParaRPr b="0" i="0" sz="700" u="none" cap="none" strike="noStrike">
              <a:solidFill>
                <a:srgbClr val="C4C4C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8407400" y="4829775"/>
            <a:ext cx="32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C4C4C4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600" u="none" cap="none" strike="noStrike">
              <a:solidFill>
                <a:srgbClr val="C4C4C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71">
          <p15:clr>
            <a:srgbClr val="E46962"/>
          </p15:clr>
        </p15:guide>
        <p15:guide id="2" pos="261">
          <p15:clr>
            <a:srgbClr val="E46962"/>
          </p15:clr>
        </p15:guide>
        <p15:guide id="3" pos="5499">
          <p15:clr>
            <a:srgbClr val="E46962"/>
          </p15:clr>
        </p15:guide>
        <p15:guide id="4" orient="horz" pos="549">
          <p15:clr>
            <a:srgbClr val="E46962"/>
          </p15:clr>
        </p15:guide>
        <p15:guide id="5" pos="629">
          <p15:clr>
            <a:srgbClr val="E46962"/>
          </p15:clr>
        </p15:guide>
        <p15:guide id="6" pos="704">
          <p15:clr>
            <a:srgbClr val="E46962"/>
          </p15:clr>
        </p15:guide>
        <p15:guide id="7" pos="1071">
          <p15:clr>
            <a:srgbClr val="E46962"/>
          </p15:clr>
        </p15:guide>
        <p15:guide id="8" pos="1146">
          <p15:clr>
            <a:srgbClr val="E46962"/>
          </p15:clr>
        </p15:guide>
        <p15:guide id="9" pos="1589">
          <p15:clr>
            <a:srgbClr val="E46962"/>
          </p15:clr>
        </p15:guide>
        <p15:guide id="10" pos="1957">
          <p15:clr>
            <a:srgbClr val="E46962"/>
          </p15:clr>
        </p15:guide>
        <p15:guide id="11" pos="2032">
          <p15:clr>
            <a:srgbClr val="E46962"/>
          </p15:clr>
        </p15:guide>
        <p15:guide id="12" pos="2400">
          <p15:clr>
            <a:srgbClr val="E46962"/>
          </p15:clr>
        </p15:guide>
        <p15:guide id="13" orient="horz" pos="880">
          <p15:clr>
            <a:srgbClr val="E46962"/>
          </p15:clr>
        </p15:guide>
        <p15:guide id="14" orient="horz" pos="1282">
          <p15:clr>
            <a:srgbClr val="E46962"/>
          </p15:clr>
        </p15:guide>
        <p15:guide id="15" orient="horz" pos="1352">
          <p15:clr>
            <a:srgbClr val="E46962"/>
          </p15:clr>
        </p15:guide>
        <p15:guide id="16" orient="horz" pos="1683">
          <p15:clr>
            <a:srgbClr val="E46962"/>
          </p15:clr>
        </p15:guide>
        <p15:guide id="17" orient="horz" pos="2085">
          <p15:clr>
            <a:srgbClr val="E46962"/>
          </p15:clr>
        </p15:guide>
        <p15:guide id="18" orient="horz" pos="2155">
          <p15:clr>
            <a:srgbClr val="E46962"/>
          </p15:clr>
        </p15:guide>
        <p15:guide id="19" orient="horz" pos="2481">
          <p15:clr>
            <a:srgbClr val="E46962"/>
          </p15:clr>
        </p15:guide>
        <p15:guide id="20" orient="horz" pos="2557">
          <p15:clr>
            <a:srgbClr val="E46962"/>
          </p15:clr>
        </p15:guide>
        <p15:guide id="21" orient="horz" pos="2888">
          <p15:clr>
            <a:srgbClr val="E46962"/>
          </p15:clr>
        </p15:guide>
        <p15:guide id="22" orient="horz" pos="480">
          <p15:clr>
            <a:srgbClr val="E46962"/>
          </p15:clr>
        </p15:guide>
        <p15:guide id="23" pos="2475">
          <p15:clr>
            <a:srgbClr val="E46962"/>
          </p15:clr>
        </p15:guide>
        <p15:guide id="24" pos="2843">
          <p15:clr>
            <a:srgbClr val="E46962"/>
          </p15:clr>
        </p15:guide>
        <p15:guide id="25" pos="2917">
          <p15:clr>
            <a:srgbClr val="E46962"/>
          </p15:clr>
        </p15:guide>
        <p15:guide id="26" pos="3285">
          <p15:clr>
            <a:srgbClr val="E46962"/>
          </p15:clr>
        </p15:guide>
        <p15:guide id="27" pos="3360">
          <p15:clr>
            <a:srgbClr val="E46962"/>
          </p15:clr>
        </p15:guide>
        <p15:guide id="28" pos="3728">
          <p15:clr>
            <a:srgbClr val="E46962"/>
          </p15:clr>
        </p15:guide>
        <p15:guide id="29" pos="3803">
          <p15:clr>
            <a:srgbClr val="E46962"/>
          </p15:clr>
        </p15:guide>
        <p15:guide id="30" pos="4171">
          <p15:clr>
            <a:srgbClr val="E46962"/>
          </p15:clr>
        </p15:guide>
        <p15:guide id="31" pos="4246">
          <p15:clr>
            <a:srgbClr val="E46962"/>
          </p15:clr>
        </p15:guide>
        <p15:guide id="32" pos="4614">
          <p15:clr>
            <a:srgbClr val="E46962"/>
          </p15:clr>
        </p15:guide>
        <p15:guide id="33" pos="4689">
          <p15:clr>
            <a:srgbClr val="E46962"/>
          </p15:clr>
        </p15:guide>
        <p15:guide id="34" pos="5056">
          <p15:clr>
            <a:srgbClr val="E46962"/>
          </p15:clr>
        </p15:guide>
        <p15:guide id="35" pos="5131">
          <p15:clr>
            <a:srgbClr val="E46962"/>
          </p15:clr>
        </p15:guide>
        <p15:guide id="36" orient="horz" pos="951">
          <p15:clr>
            <a:srgbClr val="E46962"/>
          </p15:clr>
        </p15:guide>
        <p15:guide id="37" orient="horz" pos="1754">
          <p15:clr>
            <a:srgbClr val="E46962"/>
          </p15:clr>
        </p15:guide>
        <p15:guide id="38" pos="186">
          <p15:clr>
            <a:srgbClr val="E46962"/>
          </p15:clr>
        </p15:guide>
        <p15:guide id="39" pos="5574">
          <p15:clr>
            <a:srgbClr val="E46962"/>
          </p15:clr>
        </p15:guide>
        <p15:guide id="40" orient="horz" pos="118">
          <p15:clr>
            <a:srgbClr val="E46962"/>
          </p15:clr>
        </p15:guide>
        <p15:guide id="41" pos="151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4.gif"/><Relationship Id="rId4" Type="http://schemas.openxmlformats.org/officeDocument/2006/relationships/image" Target="../media/image5.png"/><Relationship Id="rId10" Type="http://schemas.openxmlformats.org/officeDocument/2006/relationships/image" Target="../media/image10.png"/><Relationship Id="rId9" Type="http://schemas.openxmlformats.org/officeDocument/2006/relationships/image" Target="../media/image13.png"/><Relationship Id="rId5" Type="http://schemas.openxmlformats.org/officeDocument/2006/relationships/image" Target="../media/image14.jpg"/><Relationship Id="rId6" Type="http://schemas.openxmlformats.org/officeDocument/2006/relationships/image" Target="../media/image12.gif"/><Relationship Id="rId7" Type="http://schemas.openxmlformats.org/officeDocument/2006/relationships/image" Target="../media/image7.png"/><Relationship Id="rId8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Relationship Id="rId7" Type="http://schemas.openxmlformats.org/officeDocument/2006/relationships/image" Target="../media/image1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Relationship Id="rId4" Type="http://schemas.openxmlformats.org/officeDocument/2006/relationships/image" Target="../media/image13.png"/><Relationship Id="rId9" Type="http://schemas.openxmlformats.org/officeDocument/2006/relationships/image" Target="../media/image24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Relationship Id="rId7" Type="http://schemas.openxmlformats.org/officeDocument/2006/relationships/image" Target="../media/image33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Relationship Id="rId4" Type="http://schemas.openxmlformats.org/officeDocument/2006/relationships/image" Target="../media/image13.png"/><Relationship Id="rId9" Type="http://schemas.openxmlformats.org/officeDocument/2006/relationships/image" Target="../media/image23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Relationship Id="rId7" Type="http://schemas.openxmlformats.org/officeDocument/2006/relationships/image" Target="../media/image33.png"/><Relationship Id="rId8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Relationship Id="rId4" Type="http://schemas.openxmlformats.org/officeDocument/2006/relationships/image" Target="../media/image25.jpg"/><Relationship Id="rId5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4.jp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29.png"/><Relationship Id="rId8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4.jp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29.png"/><Relationship Id="rId8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4.jp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29.png"/><Relationship Id="rId8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4.jp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29.png"/><Relationship Id="rId8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4.jpg"/><Relationship Id="rId9" Type="http://schemas.openxmlformats.org/officeDocument/2006/relationships/image" Target="../media/image38.jp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29.png"/><Relationship Id="rId8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4.jpg"/><Relationship Id="rId9" Type="http://schemas.openxmlformats.org/officeDocument/2006/relationships/image" Target="../media/image38.jp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29.png"/><Relationship Id="rId8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44.jpg"/><Relationship Id="rId5" Type="http://schemas.openxmlformats.org/officeDocument/2006/relationships/image" Target="../media/image4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9.png"/><Relationship Id="rId4" Type="http://schemas.openxmlformats.org/officeDocument/2006/relationships/image" Target="../media/image42.jpg"/><Relationship Id="rId5" Type="http://schemas.openxmlformats.org/officeDocument/2006/relationships/image" Target="../media/image37.png"/><Relationship Id="rId6" Type="http://schemas.openxmlformats.org/officeDocument/2006/relationships/image" Target="../media/image4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8.jpg"/><Relationship Id="rId4" Type="http://schemas.openxmlformats.org/officeDocument/2006/relationships/image" Target="../media/image4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6" title="Customers GP 901074626 96 dpi.jpg"/>
          <p:cNvPicPr preferRelativeResize="0"/>
          <p:nvPr/>
        </p:nvPicPr>
        <p:blipFill rotWithShape="1">
          <a:blip r:embed="rId3">
            <a:alphaModFix/>
          </a:blip>
          <a:srcRect b="15626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6"/>
          <p:cNvSpPr/>
          <p:nvPr/>
        </p:nvSpPr>
        <p:spPr>
          <a:xfrm>
            <a:off x="0" y="4059000"/>
            <a:ext cx="9144000" cy="1084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4400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6"/>
          <p:cNvSpPr/>
          <p:nvPr/>
        </p:nvSpPr>
        <p:spPr>
          <a:xfrm rot="5400000">
            <a:off x="408750" y="470752"/>
            <a:ext cx="3719100" cy="45366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" name="Google Shape;36;p6"/>
          <p:cNvSpPr txBox="1"/>
          <p:nvPr/>
        </p:nvSpPr>
        <p:spPr>
          <a:xfrm>
            <a:off x="414000" y="2146725"/>
            <a:ext cx="4098600" cy="116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rPr>
              <a:t>Card</a:t>
            </a:r>
            <a:r>
              <a:rPr lang="en-US" sz="3600"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rPr>
              <a:t> Transactions</a:t>
            </a:r>
            <a:r>
              <a:rPr b="0" i="0" lang="en-US" sz="3600" u="none" cap="none" strike="noStrike"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rPr>
              <a:t> in </a:t>
            </a:r>
            <a:r>
              <a:rPr lang="en-US" sz="3600"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rPr>
              <a:t>eCommerce</a:t>
            </a:r>
            <a:br>
              <a:rPr b="0" i="0" lang="en-US" sz="3600" u="none" cap="none" strike="noStrike"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rPr>
            </a:br>
            <a:endParaRPr b="0" i="0" sz="3600" u="none" cap="none" strike="noStrike">
              <a:solidFill>
                <a:schemeClr val="lt1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37" name="Google Shape;37;p6"/>
          <p:cNvSpPr txBox="1"/>
          <p:nvPr/>
        </p:nvSpPr>
        <p:spPr>
          <a:xfrm>
            <a:off x="414000" y="3421600"/>
            <a:ext cx="40986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DM Sans Light"/>
                <a:ea typeface="DM Sans Light"/>
                <a:cs typeface="DM Sans Light"/>
                <a:sym typeface="DM Sans Light"/>
              </a:rPr>
              <a:t>Pankaj Tade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DM Sans Light"/>
                <a:ea typeface="DM Sans Light"/>
                <a:cs typeface="DM Sans Light"/>
                <a:sym typeface="DM Sans Light"/>
              </a:rPr>
              <a:t>Anil Panda</a:t>
            </a:r>
            <a:br>
              <a:rPr b="0" i="0" lang="en-US" sz="1400" u="none" cap="none" strike="noStrike">
                <a:solidFill>
                  <a:schemeClr val="lt1"/>
                </a:solidFill>
                <a:latin typeface="DM Sans Light"/>
                <a:ea typeface="DM Sans Light"/>
                <a:cs typeface="DM Sans Light"/>
                <a:sym typeface="DM Sans Light"/>
              </a:rPr>
            </a:br>
            <a:r>
              <a:rPr lang="en-US">
                <a:solidFill>
                  <a:schemeClr val="lt1"/>
                </a:solidFill>
                <a:latin typeface="DM Sans Light"/>
                <a:ea typeface="DM Sans Light"/>
                <a:cs typeface="DM Sans Light"/>
                <a:sym typeface="DM Sans Light"/>
              </a:rPr>
              <a:t>23</a:t>
            </a:r>
            <a:r>
              <a:rPr b="0" i="0" lang="en-US" sz="1200" u="none" cap="none" strike="noStrike">
                <a:solidFill>
                  <a:schemeClr val="lt1"/>
                </a:solidFill>
                <a:latin typeface="DM Sans Light"/>
                <a:ea typeface="DM Sans Light"/>
                <a:cs typeface="DM Sans Light"/>
                <a:sym typeface="DM Sans Light"/>
              </a:rPr>
              <a:t> July, 2025</a:t>
            </a:r>
            <a:endParaRPr b="0" i="0" sz="1200" u="none" cap="none" strike="noStrike">
              <a:solidFill>
                <a:schemeClr val="lt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pic>
        <p:nvPicPr>
          <p:cNvPr id="38" name="Google Shape;38;p6" title="global-logo-white_raster.png"/>
          <p:cNvPicPr preferRelativeResize="0"/>
          <p:nvPr/>
        </p:nvPicPr>
        <p:blipFill rotWithShape="1">
          <a:blip r:embed="rId4">
            <a:alphaModFix/>
          </a:blip>
          <a:srcRect b="159" l="0" r="0" t="159"/>
          <a:stretch/>
        </p:blipFill>
        <p:spPr>
          <a:xfrm>
            <a:off x="414000" y="1248625"/>
            <a:ext cx="1989924" cy="301228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 txBox="1"/>
          <p:nvPr/>
        </p:nvSpPr>
        <p:spPr>
          <a:xfrm>
            <a:off x="414000" y="4822125"/>
            <a:ext cx="2692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2025 Global Payments Inc. All rights reserved.</a:t>
            </a:r>
            <a:endParaRPr b="0" i="0" sz="7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 flipH="1">
            <a:off x="5415000" y="871850"/>
            <a:ext cx="3729000" cy="4271700"/>
          </a:xfrm>
          <a:prstGeom prst="round1Rect">
            <a:avLst>
              <a:gd fmla="val 6141" name="adj"/>
            </a:avLst>
          </a:prstGeom>
          <a:gradFill>
            <a:gsLst>
              <a:gs pos="0">
                <a:srgbClr val="2668FF"/>
              </a:gs>
              <a:gs pos="100000">
                <a:srgbClr val="1B1EC6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" name="Google Shape;45;p7"/>
          <p:cNvSpPr txBox="1"/>
          <p:nvPr/>
        </p:nvSpPr>
        <p:spPr>
          <a:xfrm>
            <a:off x="1116450" y="1168900"/>
            <a:ext cx="3395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rPr>
              <a:t>eCommerce Transactions</a:t>
            </a:r>
            <a:endParaRPr b="0" i="0" sz="1400" u="none" cap="none" strike="noStrike">
              <a:solidFill>
                <a:srgbClr val="000000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pic>
        <p:nvPicPr>
          <p:cNvPr id="46" name="Google Shape;46;p7" title="PaymentsManager+-mobile_smartphone-screen-mobileinvoicedetail-mockup left facing angled.PNG"/>
          <p:cNvPicPr preferRelativeResize="0"/>
          <p:nvPr/>
        </p:nvPicPr>
        <p:blipFill rotWithShape="1">
          <a:blip r:embed="rId3">
            <a:alphaModFix/>
          </a:blip>
          <a:srcRect b="4926" l="24461" r="12050" t="11144"/>
          <a:stretch/>
        </p:blipFill>
        <p:spPr>
          <a:xfrm>
            <a:off x="5834324" y="423700"/>
            <a:ext cx="3309676" cy="437470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/>
        </p:nvSpPr>
        <p:spPr>
          <a:xfrm>
            <a:off x="414000" y="1086850"/>
            <a:ext cx="528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62AFF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endParaRPr b="1" i="0" sz="2800" u="none" cap="none" strike="noStrike">
              <a:solidFill>
                <a:srgbClr val="262A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" name="Google Shape;48;p7"/>
          <p:cNvSpPr txBox="1"/>
          <p:nvPr/>
        </p:nvSpPr>
        <p:spPr>
          <a:xfrm>
            <a:off x="1116450" y="1832794"/>
            <a:ext cx="3395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rPr>
              <a:t>Security and Compliance</a:t>
            </a:r>
            <a:endParaRPr b="0" i="0" sz="1400" u="none" cap="none" strike="noStrike">
              <a:solidFill>
                <a:srgbClr val="000000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49" name="Google Shape;49;p7"/>
          <p:cNvSpPr txBox="1"/>
          <p:nvPr/>
        </p:nvSpPr>
        <p:spPr>
          <a:xfrm>
            <a:off x="414000" y="1750744"/>
            <a:ext cx="528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62AFF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  <a:endParaRPr b="1" i="0" sz="2800" u="none" cap="none" strike="noStrike">
              <a:solidFill>
                <a:srgbClr val="262A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" name="Google Shape;50;p7"/>
          <p:cNvSpPr txBox="1"/>
          <p:nvPr/>
        </p:nvSpPr>
        <p:spPr>
          <a:xfrm>
            <a:off x="1116450" y="2496688"/>
            <a:ext cx="3395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rPr>
              <a:t>Trends and </a:t>
            </a:r>
            <a:r>
              <a:rPr lang="en-US">
                <a:latin typeface="DM Sans Light"/>
                <a:ea typeface="DM Sans Light"/>
                <a:cs typeface="DM Sans Light"/>
                <a:sym typeface="DM Sans Light"/>
              </a:rPr>
              <a:t>Innovation</a:t>
            </a:r>
            <a:endParaRPr b="0" i="0" sz="1400" u="none" cap="none" strike="noStrike">
              <a:solidFill>
                <a:srgbClr val="000000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414000" y="2414638"/>
            <a:ext cx="528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62AFF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  <a:endParaRPr b="1" i="0" sz="2800" u="none" cap="none" strike="noStrike">
              <a:solidFill>
                <a:srgbClr val="262A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" name="Google Shape;52;p7"/>
          <p:cNvSpPr txBox="1"/>
          <p:nvPr/>
        </p:nvSpPr>
        <p:spPr>
          <a:xfrm>
            <a:off x="1116450" y="3160582"/>
            <a:ext cx="3395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rPr>
              <a:t>MOTO Transactions</a:t>
            </a:r>
            <a:endParaRPr b="0" i="0" sz="1400" u="none" cap="none" strike="noStrike">
              <a:solidFill>
                <a:srgbClr val="000000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414000" y="3078532"/>
            <a:ext cx="528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62AFF"/>
                </a:solidFill>
                <a:latin typeface="DM Sans"/>
                <a:ea typeface="DM Sans"/>
                <a:cs typeface="DM Sans"/>
                <a:sym typeface="DM Sans"/>
              </a:rPr>
              <a:t>04</a:t>
            </a:r>
            <a:endParaRPr b="1" i="0" sz="2800" u="none" cap="none" strike="noStrike">
              <a:solidFill>
                <a:srgbClr val="262A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" name="Google Shape;54;p7"/>
          <p:cNvSpPr txBox="1"/>
          <p:nvPr/>
        </p:nvSpPr>
        <p:spPr>
          <a:xfrm>
            <a:off x="1116450" y="3824477"/>
            <a:ext cx="3395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rPr>
              <a:t>Questions</a:t>
            </a:r>
            <a:endParaRPr b="0" i="0" sz="1400" u="none" cap="none" strike="noStrike">
              <a:solidFill>
                <a:srgbClr val="000000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5" name="Google Shape;55;p7"/>
          <p:cNvSpPr txBox="1"/>
          <p:nvPr/>
        </p:nvSpPr>
        <p:spPr>
          <a:xfrm>
            <a:off x="414000" y="3742427"/>
            <a:ext cx="528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62AFF"/>
                </a:solidFill>
                <a:latin typeface="DM Sans"/>
                <a:ea typeface="DM Sans"/>
                <a:cs typeface="DM Sans"/>
                <a:sym typeface="DM Sans"/>
              </a:rPr>
              <a:t>05</a:t>
            </a:r>
            <a:endParaRPr b="1" i="0" sz="2800" u="none" cap="none" strike="noStrike">
              <a:solidFill>
                <a:srgbClr val="262A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6" name="Google Shape;56;p7" title="icon_small_9_mobilepay.png"/>
          <p:cNvPicPr preferRelativeResize="0"/>
          <p:nvPr/>
        </p:nvPicPr>
        <p:blipFill rotWithShape="1">
          <a:blip r:embed="rId4">
            <a:alphaModFix/>
          </a:blip>
          <a:srcRect b="238" l="0" r="0" t="237"/>
          <a:stretch/>
        </p:blipFill>
        <p:spPr>
          <a:xfrm>
            <a:off x="5154375" y="1509275"/>
            <a:ext cx="528156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14000" y="187325"/>
            <a:ext cx="33957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Agenda </a:t>
            </a:r>
            <a:endParaRPr b="0" i="0" sz="3200" u="none" cap="none" strike="noStrike">
              <a:solidFill>
                <a:srgbClr val="262AFF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58" name="Google Shape;58;p7"/>
          <p:cNvSpPr txBox="1"/>
          <p:nvPr/>
        </p:nvSpPr>
        <p:spPr>
          <a:xfrm>
            <a:off x="8407400" y="4829775"/>
            <a:ext cx="32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59" name="Google Shape;59;p7"/>
          <p:cNvCxnSpPr/>
          <p:nvPr/>
        </p:nvCxnSpPr>
        <p:spPr>
          <a:xfrm>
            <a:off x="424600" y="1615747"/>
            <a:ext cx="4089600" cy="0"/>
          </a:xfrm>
          <a:prstGeom prst="straightConnector1">
            <a:avLst/>
          </a:prstGeom>
          <a:noFill/>
          <a:ln cap="flat" cmpd="sng" w="9525">
            <a:solidFill>
              <a:srgbClr val="979797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0" name="Google Shape;60;p7"/>
          <p:cNvCxnSpPr/>
          <p:nvPr/>
        </p:nvCxnSpPr>
        <p:spPr>
          <a:xfrm>
            <a:off x="424600" y="2279641"/>
            <a:ext cx="4089600" cy="0"/>
          </a:xfrm>
          <a:prstGeom prst="straightConnector1">
            <a:avLst/>
          </a:prstGeom>
          <a:noFill/>
          <a:ln cap="flat" cmpd="sng" w="9525">
            <a:solidFill>
              <a:srgbClr val="979797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1" name="Google Shape;61;p7"/>
          <p:cNvCxnSpPr/>
          <p:nvPr/>
        </p:nvCxnSpPr>
        <p:spPr>
          <a:xfrm>
            <a:off x="424600" y="2943535"/>
            <a:ext cx="4089600" cy="0"/>
          </a:xfrm>
          <a:prstGeom prst="straightConnector1">
            <a:avLst/>
          </a:prstGeom>
          <a:noFill/>
          <a:ln cap="flat" cmpd="sng" w="9525">
            <a:solidFill>
              <a:srgbClr val="979797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2" name="Google Shape;62;p7"/>
          <p:cNvCxnSpPr/>
          <p:nvPr/>
        </p:nvCxnSpPr>
        <p:spPr>
          <a:xfrm>
            <a:off x="424600" y="3607429"/>
            <a:ext cx="4089600" cy="0"/>
          </a:xfrm>
          <a:prstGeom prst="straightConnector1">
            <a:avLst/>
          </a:prstGeom>
          <a:noFill/>
          <a:ln cap="flat" cmpd="sng" w="9525">
            <a:solidFill>
              <a:srgbClr val="979797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63" name="Google Shape;63;p7"/>
          <p:cNvSpPr txBox="1"/>
          <p:nvPr/>
        </p:nvSpPr>
        <p:spPr>
          <a:xfrm>
            <a:off x="5334325" y="4822125"/>
            <a:ext cx="2692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2025 Global Payments Inc. All rights reserved.</a:t>
            </a:r>
            <a:endParaRPr b="0" i="0" sz="7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8"/>
          <p:cNvPicPr preferRelativeResize="0"/>
          <p:nvPr/>
        </p:nvPicPr>
        <p:blipFill rotWithShape="1">
          <a:blip r:embed="rId3">
            <a:alphaModFix/>
          </a:blip>
          <a:srcRect b="0" l="1994" r="1994" t="0"/>
          <a:stretch/>
        </p:blipFill>
        <p:spPr>
          <a:xfrm>
            <a:off x="4512600" y="1381126"/>
            <a:ext cx="5175672" cy="2953769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69" name="Google Shape;69;p8"/>
          <p:cNvSpPr/>
          <p:nvPr/>
        </p:nvSpPr>
        <p:spPr>
          <a:xfrm>
            <a:off x="5179475" y="3268350"/>
            <a:ext cx="1119900" cy="1087200"/>
          </a:xfrm>
          <a:prstGeom prst="roundRect">
            <a:avLst>
              <a:gd fmla="val 14103" name="adj"/>
            </a:avLst>
          </a:prstGeom>
          <a:solidFill>
            <a:schemeClr val="lt1"/>
          </a:solidFill>
          <a:ln>
            <a:noFill/>
          </a:ln>
          <a:effectLst>
            <a:outerShdw blurRad="114300" rotWithShape="0" algn="bl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5540525" y="3435100"/>
            <a:ext cx="397800" cy="397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8"/>
          <p:cNvSpPr txBox="1"/>
          <p:nvPr/>
        </p:nvSpPr>
        <p:spPr>
          <a:xfrm>
            <a:off x="5179475" y="3833050"/>
            <a:ext cx="1119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rPr>
              <a:t>Payment</a:t>
            </a:r>
            <a:endParaRPr b="0" i="0" sz="1000" u="none" cap="none" strike="noStrike">
              <a:solidFill>
                <a:schemeClr val="dk1"/>
              </a:solidFill>
              <a:latin typeface="DM Sans Black"/>
              <a:ea typeface="DM Sans Black"/>
              <a:cs typeface="DM Sans Black"/>
              <a:sym typeface="DM Sans Black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DM Sans Black"/>
                <a:ea typeface="DM Sans Black"/>
                <a:cs typeface="DM Sans Black"/>
                <a:sym typeface="DM Sans Black"/>
              </a:rPr>
              <a:t>processed</a:t>
            </a:r>
            <a:endParaRPr b="0" i="0" sz="1000" u="none" cap="none" strike="noStrike">
              <a:solidFill>
                <a:schemeClr val="dk1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9144000" y="-168094"/>
            <a:ext cx="2082000" cy="583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8"/>
          <p:cNvSpPr txBox="1"/>
          <p:nvPr/>
        </p:nvSpPr>
        <p:spPr>
          <a:xfrm>
            <a:off x="414000" y="1616547"/>
            <a:ext cx="40986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❑"/>
            </a:pPr>
            <a:r>
              <a:rPr b="1" i="0" lang="en-US" sz="12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e-commerce</a:t>
            </a:r>
            <a:r>
              <a:rPr b="0" i="0" lang="en-US" sz="12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1" i="0" lang="en-US" sz="12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or electronic commerce</a:t>
            </a:r>
            <a:r>
              <a:rPr b="0" i="0" lang="en-US" sz="12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, refers to the buying and selling of goods or services over the internet.</a:t>
            </a:r>
            <a:endParaRPr/>
          </a:p>
          <a:p>
            <a:pPr indent="-10160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rgbClr val="0B0C1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❑"/>
            </a:pPr>
            <a:r>
              <a:rPr b="1" lang="en-US" sz="1200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e Commerce</a:t>
            </a:r>
            <a:r>
              <a:rPr b="0" i="0" lang="en-US" sz="12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Transactions are Card-Not-Present (CNP) Transactions</a:t>
            </a:r>
            <a:endParaRPr/>
          </a:p>
          <a:p>
            <a:pPr indent="-10160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rgbClr val="0B0C1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71450" lvl="0" marL="17145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❑"/>
            </a:pPr>
            <a:r>
              <a:rPr b="1" i="0" lang="en-US" sz="12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Credit, Debit and </a:t>
            </a:r>
            <a:r>
              <a:rPr b="1" lang="en-US" sz="1200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Prepaid</a:t>
            </a:r>
            <a:r>
              <a:rPr b="1" i="0" lang="en-US" sz="12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 cards </a:t>
            </a:r>
            <a:r>
              <a:rPr b="0" i="0" lang="en-US" sz="12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are amongst the most popular card payment methods globally</a:t>
            </a:r>
            <a:endParaRPr/>
          </a:p>
          <a:p>
            <a:pPr indent="-171450" lvl="0" marL="171450" marR="0" rtl="0" algn="l">
              <a:lnSpc>
                <a:spcPct val="115000"/>
              </a:lnSpc>
              <a:spcBef>
                <a:spcPts val="2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Noto Sans Symbols"/>
              <a:buChar char="❑"/>
            </a:pPr>
            <a:r>
              <a:rPr b="1" i="0" lang="en-US" sz="12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Auth, Rebate and Settlement</a:t>
            </a:r>
            <a:r>
              <a:rPr b="0" i="0" lang="en-US" sz="12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 are the most popular transactions</a:t>
            </a:r>
            <a:endParaRPr b="0" i="0" sz="1200" u="none" cap="none" strike="noStrike">
              <a:solidFill>
                <a:srgbClr val="0B0C1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1250" y="3545650"/>
            <a:ext cx="236350" cy="1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 txBox="1"/>
          <p:nvPr/>
        </p:nvSpPr>
        <p:spPr>
          <a:xfrm>
            <a:off x="414000" y="187325"/>
            <a:ext cx="33957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eCommerce</a:t>
            </a:r>
            <a:endParaRPr b="0" i="0" sz="3200" u="none" cap="none" strike="noStrike">
              <a:solidFill>
                <a:srgbClr val="262AFF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6800"/>
            <a:ext cx="8839200" cy="353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0"/>
          <p:cNvGrpSpPr/>
          <p:nvPr/>
        </p:nvGrpSpPr>
        <p:grpSpPr>
          <a:xfrm>
            <a:off x="4655128" y="588821"/>
            <a:ext cx="546945" cy="726638"/>
            <a:chOff x="4655128" y="588821"/>
            <a:chExt cx="546945" cy="726638"/>
          </a:xfrm>
        </p:grpSpPr>
        <p:pic>
          <p:nvPicPr>
            <p:cNvPr descr="A black and blue gear with a blue circle&#10;&#10;AI-generated content may be incorrect." id="86" name="Google Shape;86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4663781" y="781044"/>
              <a:ext cx="534415" cy="5344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p10"/>
            <p:cNvSpPr txBox="1"/>
            <p:nvPr/>
          </p:nvSpPr>
          <p:spPr>
            <a:xfrm>
              <a:off x="4655128" y="588821"/>
              <a:ext cx="54694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77500"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Batch</a:t>
              </a:r>
              <a:endParaRPr/>
            </a:p>
          </p:txBody>
        </p:sp>
      </p:grpSp>
      <p:pic>
        <p:nvPicPr>
          <p:cNvPr id="88" name="Google Shape;88;p10" title="images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5375" y="1849808"/>
            <a:ext cx="738875" cy="67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0" title="woman-customer-online-shopping-icon-set-vector-44264173.jpg"/>
          <p:cNvPicPr preferRelativeResize="0"/>
          <p:nvPr/>
        </p:nvPicPr>
        <p:blipFill rotWithShape="1">
          <a:blip r:embed="rId5">
            <a:alphaModFix/>
          </a:blip>
          <a:srcRect b="14150" l="0" r="0" t="-14150"/>
          <a:stretch/>
        </p:blipFill>
        <p:spPr>
          <a:xfrm>
            <a:off x="599850" y="1341283"/>
            <a:ext cx="1180200" cy="1274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90;p10"/>
          <p:cNvCxnSpPr/>
          <p:nvPr/>
        </p:nvCxnSpPr>
        <p:spPr>
          <a:xfrm>
            <a:off x="1752600" y="21161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1" name="Google Shape;91;p10"/>
          <p:cNvCxnSpPr/>
          <p:nvPr/>
        </p:nvCxnSpPr>
        <p:spPr>
          <a:xfrm>
            <a:off x="3505200" y="21161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" name="Google Shape;92;p10"/>
          <p:cNvCxnSpPr/>
          <p:nvPr/>
        </p:nvCxnSpPr>
        <p:spPr>
          <a:xfrm>
            <a:off x="5486400" y="21161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3" name="Google Shape;93;p10"/>
          <p:cNvCxnSpPr/>
          <p:nvPr/>
        </p:nvCxnSpPr>
        <p:spPr>
          <a:xfrm flipH="1">
            <a:off x="5181600" y="41735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" name="Google Shape;94;p10"/>
          <p:cNvCxnSpPr/>
          <p:nvPr/>
        </p:nvCxnSpPr>
        <p:spPr>
          <a:xfrm>
            <a:off x="7121582" y="2805162"/>
            <a:ext cx="1468" cy="795271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5" name="Google Shape;95;p10"/>
          <p:cNvCxnSpPr/>
          <p:nvPr/>
        </p:nvCxnSpPr>
        <p:spPr>
          <a:xfrm>
            <a:off x="5257800" y="38687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6" name="Google Shape;96;p10"/>
          <p:cNvCxnSpPr/>
          <p:nvPr/>
        </p:nvCxnSpPr>
        <p:spPr>
          <a:xfrm flipH="1">
            <a:off x="5486400" y="23447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" name="Google Shape;97;p10"/>
          <p:cNvCxnSpPr/>
          <p:nvPr/>
        </p:nvCxnSpPr>
        <p:spPr>
          <a:xfrm flipH="1">
            <a:off x="3505200" y="23447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" name="Google Shape;98;p10"/>
          <p:cNvCxnSpPr/>
          <p:nvPr/>
        </p:nvCxnSpPr>
        <p:spPr>
          <a:xfrm flipH="1">
            <a:off x="1676400" y="23447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" name="Google Shape;99;p10"/>
          <p:cNvCxnSpPr/>
          <p:nvPr/>
        </p:nvCxnSpPr>
        <p:spPr>
          <a:xfrm flipH="1" rot="10800000">
            <a:off x="6734850" y="2805162"/>
            <a:ext cx="8722" cy="795271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0" name="Google Shape;100;p10"/>
          <p:cNvCxnSpPr>
            <a:endCxn id="101" idx="0"/>
          </p:cNvCxnSpPr>
          <p:nvPr/>
        </p:nvCxnSpPr>
        <p:spPr>
          <a:xfrm>
            <a:off x="5186375" y="988869"/>
            <a:ext cx="1707000" cy="801300"/>
          </a:xfrm>
          <a:prstGeom prst="bentConnector2">
            <a:avLst/>
          </a:prstGeom>
          <a:noFill/>
          <a:ln cap="flat" cmpd="sng" w="28575">
            <a:solidFill>
              <a:srgbClr val="D30B2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" name="Google Shape;102;p10"/>
          <p:cNvCxnSpPr>
            <a:endCxn id="103" idx="3"/>
          </p:cNvCxnSpPr>
          <p:nvPr/>
        </p:nvCxnSpPr>
        <p:spPr>
          <a:xfrm flipH="1" rot="-5400000">
            <a:off x="6482946" y="3066014"/>
            <a:ext cx="1728900" cy="109800"/>
          </a:xfrm>
          <a:prstGeom prst="bentConnector4">
            <a:avLst>
              <a:gd fmla="val -115" name="adj1"/>
              <a:gd fmla="val 314505" name="adj2"/>
            </a:avLst>
          </a:prstGeom>
          <a:noFill/>
          <a:ln cap="flat" cmpd="sng" w="28575">
            <a:solidFill>
              <a:srgbClr val="D30B2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" name="Google Shape;104;p10"/>
          <p:cNvCxnSpPr>
            <a:stCxn id="105" idx="2"/>
            <a:endCxn id="106" idx="2"/>
          </p:cNvCxnSpPr>
          <p:nvPr/>
        </p:nvCxnSpPr>
        <p:spPr>
          <a:xfrm flipH="1" rot="5400000">
            <a:off x="5663808" y="3456841"/>
            <a:ext cx="3300" cy="2316600"/>
          </a:xfrm>
          <a:prstGeom prst="bentConnector3">
            <a:avLst>
              <a:gd fmla="val -5457864" name="adj1"/>
            </a:avLst>
          </a:prstGeom>
          <a:noFill/>
          <a:ln cap="flat" cmpd="sng" w="28575">
            <a:solidFill>
              <a:srgbClr val="D30B2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" name="Google Shape;107;p10"/>
          <p:cNvCxnSpPr/>
          <p:nvPr/>
        </p:nvCxnSpPr>
        <p:spPr>
          <a:xfrm rot="10800000">
            <a:off x="4954537" y="1253836"/>
            <a:ext cx="0" cy="413886"/>
          </a:xfrm>
          <a:prstGeom prst="straightConnector1">
            <a:avLst/>
          </a:prstGeom>
          <a:noFill/>
          <a:ln cap="flat" cmpd="sng" w="28575">
            <a:solidFill>
              <a:srgbClr val="D30B2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" name="Google Shape;108;p10"/>
          <p:cNvCxnSpPr>
            <a:endCxn id="109" idx="2"/>
          </p:cNvCxnSpPr>
          <p:nvPr/>
        </p:nvCxnSpPr>
        <p:spPr>
          <a:xfrm rot="10800000">
            <a:off x="1242377" y="2812382"/>
            <a:ext cx="2921400" cy="1237500"/>
          </a:xfrm>
          <a:prstGeom prst="bentConnector2">
            <a:avLst/>
          </a:prstGeom>
          <a:noFill/>
          <a:ln cap="flat" cmpd="sng" w="28575">
            <a:solidFill>
              <a:srgbClr val="F8720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A clock with numbers and a minute hand&#10;&#10;AI-generated content may be incorrect." id="110" name="Google Shape;11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4396" y="1443038"/>
            <a:ext cx="207427" cy="20837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0"/>
          <p:cNvSpPr txBox="1"/>
          <p:nvPr/>
        </p:nvSpPr>
        <p:spPr>
          <a:xfrm>
            <a:off x="817420" y="2535383"/>
            <a:ext cx="84991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2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Customer</a:t>
            </a:r>
            <a:endParaRPr/>
          </a:p>
        </p:txBody>
      </p:sp>
      <p:sp>
        <p:nvSpPr>
          <p:cNvPr id="111" name="Google Shape;111;p10"/>
          <p:cNvSpPr txBox="1"/>
          <p:nvPr/>
        </p:nvSpPr>
        <p:spPr>
          <a:xfrm>
            <a:off x="2708565" y="2542310"/>
            <a:ext cx="8242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Merchant</a:t>
            </a:r>
            <a:endParaRPr/>
          </a:p>
        </p:txBody>
      </p:sp>
      <p:grpSp>
        <p:nvGrpSpPr>
          <p:cNvPr id="112" name="Google Shape;112;p10"/>
          <p:cNvGrpSpPr/>
          <p:nvPr/>
        </p:nvGrpSpPr>
        <p:grpSpPr>
          <a:xfrm>
            <a:off x="6492425" y="1790169"/>
            <a:ext cx="801900" cy="1071273"/>
            <a:chOff x="6492425" y="1790169"/>
            <a:chExt cx="801900" cy="1071273"/>
          </a:xfrm>
        </p:grpSpPr>
        <p:pic>
          <p:nvPicPr>
            <p:cNvPr id="101" name="Google Shape;101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492425" y="1790169"/>
              <a:ext cx="801900" cy="7952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10"/>
            <p:cNvSpPr txBox="1"/>
            <p:nvPr/>
          </p:nvSpPr>
          <p:spPr>
            <a:xfrm>
              <a:off x="6512953" y="2584443"/>
              <a:ext cx="75533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85000"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A</a:t>
              </a:r>
              <a:r>
                <a:rPr b="1" i="0" lang="en-US" sz="12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cquirer</a:t>
              </a:r>
              <a:endParaRPr/>
            </a:p>
          </p:txBody>
        </p:sp>
      </p:grpSp>
      <p:grpSp>
        <p:nvGrpSpPr>
          <p:cNvPr id="114" name="Google Shape;114;p10"/>
          <p:cNvGrpSpPr/>
          <p:nvPr/>
        </p:nvGrpSpPr>
        <p:grpSpPr>
          <a:xfrm>
            <a:off x="6360999" y="3610176"/>
            <a:ext cx="1041297" cy="1006615"/>
            <a:chOff x="6360999" y="3610176"/>
            <a:chExt cx="1041297" cy="1006615"/>
          </a:xfrm>
        </p:grpSpPr>
        <p:pic>
          <p:nvPicPr>
            <p:cNvPr id="103" name="Google Shape;103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360999" y="3610176"/>
              <a:ext cx="1041297" cy="750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0"/>
            <p:cNvSpPr txBox="1"/>
            <p:nvPr/>
          </p:nvSpPr>
          <p:spPr>
            <a:xfrm>
              <a:off x="6451701" y="4339792"/>
              <a:ext cx="74411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77500"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Schemes</a:t>
              </a:r>
              <a:endParaRPr/>
            </a:p>
          </p:txBody>
        </p:sp>
      </p:grpSp>
      <p:grpSp>
        <p:nvGrpSpPr>
          <p:cNvPr id="115" name="Google Shape;115;p10"/>
          <p:cNvGrpSpPr/>
          <p:nvPr/>
        </p:nvGrpSpPr>
        <p:grpSpPr>
          <a:xfrm>
            <a:off x="4554512" y="1724145"/>
            <a:ext cx="847013" cy="1272937"/>
            <a:chOff x="4554512" y="1724145"/>
            <a:chExt cx="847013" cy="1272937"/>
          </a:xfrm>
        </p:grpSpPr>
        <p:pic>
          <p:nvPicPr>
            <p:cNvPr id="116" name="Google Shape;116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554512" y="1724145"/>
              <a:ext cx="847013" cy="847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17;p10"/>
            <p:cNvSpPr txBox="1"/>
            <p:nvPr/>
          </p:nvSpPr>
          <p:spPr>
            <a:xfrm>
              <a:off x="4558147" y="2535382"/>
              <a:ext cx="795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85000"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Payment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Gateway</a:t>
              </a:r>
              <a:endParaRPr/>
            </a:p>
          </p:txBody>
        </p:sp>
      </p:grpSp>
      <p:grpSp>
        <p:nvGrpSpPr>
          <p:cNvPr id="118" name="Google Shape;118;p10"/>
          <p:cNvGrpSpPr/>
          <p:nvPr/>
        </p:nvGrpSpPr>
        <p:grpSpPr>
          <a:xfrm>
            <a:off x="4140450" y="3395387"/>
            <a:ext cx="961899" cy="1218086"/>
            <a:chOff x="4140450" y="3395387"/>
            <a:chExt cx="961899" cy="1218086"/>
          </a:xfrm>
        </p:grpSpPr>
        <p:pic>
          <p:nvPicPr>
            <p:cNvPr id="119" name="Google Shape;119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40450" y="3395387"/>
              <a:ext cx="961899" cy="953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" name="Google Shape;106;p10"/>
            <p:cNvSpPr txBox="1"/>
            <p:nvPr/>
          </p:nvSpPr>
          <p:spPr>
            <a:xfrm>
              <a:off x="4225635" y="4336474"/>
              <a:ext cx="56297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77500"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Issuer</a:t>
              </a:r>
              <a:endParaRPr/>
            </a:p>
          </p:txBody>
        </p:sp>
      </p:grpSp>
      <p:sp>
        <p:nvSpPr>
          <p:cNvPr id="120" name="Google Shape;120;p10"/>
          <p:cNvSpPr txBox="1"/>
          <p:nvPr/>
        </p:nvSpPr>
        <p:spPr>
          <a:xfrm>
            <a:off x="414000" y="187325"/>
            <a:ext cx="5259052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eCommerce Transactions</a:t>
            </a:r>
            <a:endParaRPr b="0" i="0" sz="3200" u="none" cap="none" strike="noStrike">
              <a:solidFill>
                <a:srgbClr val="262AFF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21" name="Google Shape;121;p10"/>
          <p:cNvSpPr txBox="1"/>
          <p:nvPr/>
        </p:nvSpPr>
        <p:spPr>
          <a:xfrm>
            <a:off x="2044800" y="2750400"/>
            <a:ext cx="414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2" name="Google Shape;122;p10"/>
          <p:cNvSpPr txBox="1"/>
          <p:nvPr/>
        </p:nvSpPr>
        <p:spPr>
          <a:xfrm>
            <a:off x="5649700" y="1851200"/>
            <a:ext cx="67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3.Auth</a:t>
            </a:r>
            <a:endParaRPr sz="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0"/>
          <p:cNvSpPr txBox="1"/>
          <p:nvPr/>
        </p:nvSpPr>
        <p:spPr>
          <a:xfrm>
            <a:off x="5497300" y="3908600"/>
            <a:ext cx="67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5.</a:t>
            </a: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Auth</a:t>
            </a:r>
            <a:endParaRPr sz="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0"/>
          <p:cNvSpPr txBox="1"/>
          <p:nvPr/>
        </p:nvSpPr>
        <p:spPr>
          <a:xfrm rot="-5400000">
            <a:off x="6868900" y="2841800"/>
            <a:ext cx="67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4.</a:t>
            </a: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Auth</a:t>
            </a:r>
            <a:endParaRPr sz="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0"/>
          <p:cNvSpPr txBox="1"/>
          <p:nvPr/>
        </p:nvSpPr>
        <p:spPr>
          <a:xfrm>
            <a:off x="3668500" y="1851200"/>
            <a:ext cx="67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Auth</a:t>
            </a:r>
            <a:endParaRPr sz="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0"/>
          <p:cNvSpPr txBox="1"/>
          <p:nvPr/>
        </p:nvSpPr>
        <p:spPr>
          <a:xfrm>
            <a:off x="1798600" y="1844000"/>
            <a:ext cx="118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1.Card details</a:t>
            </a:r>
            <a:endParaRPr sz="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" name="Google Shape;127;p10"/>
          <p:cNvSpPr txBox="1"/>
          <p:nvPr/>
        </p:nvSpPr>
        <p:spPr>
          <a:xfrm>
            <a:off x="5192500" y="3527600"/>
            <a:ext cx="107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6. </a:t>
            </a: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Auth Response</a:t>
            </a:r>
            <a:endParaRPr sz="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8" name="Google Shape;128;p10"/>
          <p:cNvSpPr txBox="1"/>
          <p:nvPr/>
        </p:nvSpPr>
        <p:spPr>
          <a:xfrm>
            <a:off x="5649700" y="2308400"/>
            <a:ext cx="107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8.</a:t>
            </a: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Auth Response</a:t>
            </a:r>
            <a:endParaRPr sz="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9" name="Google Shape;129;p10"/>
          <p:cNvSpPr txBox="1"/>
          <p:nvPr/>
        </p:nvSpPr>
        <p:spPr>
          <a:xfrm>
            <a:off x="3668500" y="2308400"/>
            <a:ext cx="107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9.</a:t>
            </a: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Auth Response</a:t>
            </a:r>
            <a:endParaRPr sz="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0" name="Google Shape;130;p10"/>
          <p:cNvSpPr txBox="1"/>
          <p:nvPr/>
        </p:nvSpPr>
        <p:spPr>
          <a:xfrm rot="5400000">
            <a:off x="6030700" y="3222800"/>
            <a:ext cx="107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7.</a:t>
            </a: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Auth Response</a:t>
            </a:r>
            <a:endParaRPr sz="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1" name="Google Shape;131;p10"/>
          <p:cNvSpPr txBox="1"/>
          <p:nvPr/>
        </p:nvSpPr>
        <p:spPr>
          <a:xfrm>
            <a:off x="1763500" y="2384600"/>
            <a:ext cx="107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10.</a:t>
            </a: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Success</a:t>
            </a: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/ </a:t>
            </a: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Failure</a:t>
            </a:r>
            <a:endParaRPr sz="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2" name="Google Shape;132;p10"/>
          <p:cNvSpPr txBox="1"/>
          <p:nvPr/>
        </p:nvSpPr>
        <p:spPr>
          <a:xfrm>
            <a:off x="1992100" y="4061000"/>
            <a:ext cx="107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16. Monthly Bill</a:t>
            </a:r>
            <a:endParaRPr sz="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10"/>
          <p:cNvSpPr txBox="1"/>
          <p:nvPr/>
        </p:nvSpPr>
        <p:spPr>
          <a:xfrm>
            <a:off x="3820900" y="1317800"/>
            <a:ext cx="1072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12.All Auth </a:t>
            </a: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processed for</a:t>
            </a: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 day</a:t>
            </a:r>
            <a:endParaRPr sz="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4" name="Google Shape;134;p10"/>
          <p:cNvSpPr txBox="1"/>
          <p:nvPr/>
        </p:nvSpPr>
        <p:spPr>
          <a:xfrm>
            <a:off x="5410200" y="6858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13.</a:t>
            </a: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Settlement</a:t>
            </a: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Batch File</a:t>
            </a:r>
            <a:endParaRPr/>
          </a:p>
        </p:txBody>
      </p:sp>
      <p:sp>
        <p:nvSpPr>
          <p:cNvPr id="135" name="Google Shape;135;p10"/>
          <p:cNvSpPr txBox="1"/>
          <p:nvPr/>
        </p:nvSpPr>
        <p:spPr>
          <a:xfrm rot="-5400000">
            <a:off x="6248400" y="21336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14.</a:t>
            </a: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Settlement Batch File</a:t>
            </a:r>
            <a:endParaRPr/>
          </a:p>
        </p:txBody>
      </p:sp>
      <p:sp>
        <p:nvSpPr>
          <p:cNvPr id="136" name="Google Shape;136;p10"/>
          <p:cNvSpPr txBox="1"/>
          <p:nvPr/>
        </p:nvSpPr>
        <p:spPr>
          <a:xfrm>
            <a:off x="5029200" y="44958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15.</a:t>
            </a: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Settlement Batch File</a:t>
            </a:r>
            <a:endParaRPr/>
          </a:p>
        </p:txBody>
      </p:sp>
      <p:pic>
        <p:nvPicPr>
          <p:cNvPr id="137" name="Google Shape;137;p1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17600" y="1237725"/>
            <a:ext cx="2173300" cy="6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0"/>
          <p:cNvSpPr txBox="1"/>
          <p:nvPr/>
        </p:nvSpPr>
        <p:spPr>
          <a:xfrm>
            <a:off x="1687300" y="936800"/>
            <a:ext cx="107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11. Deliver Product</a:t>
            </a:r>
            <a:endParaRPr sz="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/>
          <p:nvPr/>
        </p:nvSpPr>
        <p:spPr>
          <a:xfrm flipH="1">
            <a:off x="0" y="2960775"/>
            <a:ext cx="9144000" cy="2182500"/>
          </a:xfrm>
          <a:prstGeom prst="round1Rect">
            <a:avLst>
              <a:gd fmla="val 10732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414000" y="1509275"/>
            <a:ext cx="1989900" cy="2734200"/>
          </a:xfrm>
          <a:prstGeom prst="roundRect">
            <a:avLst>
              <a:gd fmla="val 11524" name="adj"/>
            </a:avLst>
          </a:prstGeom>
          <a:solidFill>
            <a:schemeClr val="lt1"/>
          </a:solidFill>
          <a:ln>
            <a:noFill/>
          </a:ln>
          <a:effectLst>
            <a:outerShdw blurRad="100013" rotWithShape="0" algn="bl" dir="4800000" dist="1905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2522725" y="1509275"/>
            <a:ext cx="1989900" cy="2734200"/>
          </a:xfrm>
          <a:prstGeom prst="roundRect">
            <a:avLst>
              <a:gd fmla="val 11174" name="adj"/>
            </a:avLst>
          </a:prstGeom>
          <a:solidFill>
            <a:schemeClr val="lt1"/>
          </a:solidFill>
          <a:ln>
            <a:noFill/>
          </a:ln>
          <a:effectLst>
            <a:outerShdw blurRad="100013" rotWithShape="0" algn="bl" dir="4800000" dist="1905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4631450" y="1509275"/>
            <a:ext cx="1989900" cy="2734200"/>
          </a:xfrm>
          <a:prstGeom prst="roundRect">
            <a:avLst>
              <a:gd fmla="val 11602" name="adj"/>
            </a:avLst>
          </a:prstGeom>
          <a:solidFill>
            <a:schemeClr val="lt1"/>
          </a:solidFill>
          <a:ln>
            <a:noFill/>
          </a:ln>
          <a:effectLst>
            <a:outerShdw blurRad="100013" rotWithShape="0" algn="bl" dir="4800000" dist="1905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6740175" y="1509275"/>
            <a:ext cx="1989900" cy="2734200"/>
          </a:xfrm>
          <a:prstGeom prst="roundRect">
            <a:avLst>
              <a:gd fmla="val 11571" name="adj"/>
            </a:avLst>
          </a:prstGeom>
          <a:solidFill>
            <a:schemeClr val="lt1"/>
          </a:solidFill>
          <a:ln>
            <a:noFill/>
          </a:ln>
          <a:effectLst>
            <a:outerShdw blurRad="100013" rotWithShape="0" algn="bl" dir="4800000" dist="1905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48" name="Google Shape;148;p11"/>
          <p:cNvGrpSpPr/>
          <p:nvPr/>
        </p:nvGrpSpPr>
        <p:grpSpPr>
          <a:xfrm>
            <a:off x="649199" y="1717475"/>
            <a:ext cx="1513201" cy="1983225"/>
            <a:chOff x="649199" y="1717475"/>
            <a:chExt cx="1513201" cy="1983225"/>
          </a:xfrm>
        </p:grpSpPr>
        <p:sp>
          <p:nvSpPr>
            <p:cNvPr id="149" name="Google Shape;149;p11"/>
            <p:cNvSpPr/>
            <p:nvPr/>
          </p:nvSpPr>
          <p:spPr>
            <a:xfrm>
              <a:off x="649199" y="1717475"/>
              <a:ext cx="1405825" cy="3174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i="0" lang="en-US" sz="1200" u="none" cap="none" strike="noStrik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3DSecure2</a:t>
              </a:r>
              <a:endPara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0" name="Google Shape;150;p11"/>
            <p:cNvSpPr txBox="1"/>
            <p:nvPr/>
          </p:nvSpPr>
          <p:spPr>
            <a:xfrm>
              <a:off x="649200" y="2179400"/>
              <a:ext cx="1513200" cy="152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2 Factor Authentication Layer </a:t>
              </a:r>
              <a:r>
                <a:rPr i="0" lang="en-US" sz="1000" u="none" cap="none" strike="noStrik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e.g. Additional layer of authentication to make sure that user performed the transaction with  OTP, Biometric etc.</a:t>
              </a:r>
              <a:endParaRPr sz="1000"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i="0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1" name="Google Shape;151;p11"/>
          <p:cNvGrpSpPr/>
          <p:nvPr/>
        </p:nvGrpSpPr>
        <p:grpSpPr>
          <a:xfrm>
            <a:off x="2758974" y="1717475"/>
            <a:ext cx="1513201" cy="2014125"/>
            <a:chOff x="649199" y="1717475"/>
            <a:chExt cx="1513201" cy="2014125"/>
          </a:xfrm>
        </p:grpSpPr>
        <p:sp>
          <p:nvSpPr>
            <p:cNvPr id="152" name="Google Shape;152;p11"/>
            <p:cNvSpPr/>
            <p:nvPr/>
          </p:nvSpPr>
          <p:spPr>
            <a:xfrm>
              <a:off x="649199" y="1717475"/>
              <a:ext cx="1513200" cy="3174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i="0" lang="en-US" sz="1200" u="none" cap="none" strike="noStrik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CVV &amp; AVS Check</a:t>
              </a:r>
              <a:endParaRPr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3" name="Google Shape;153;p11"/>
            <p:cNvSpPr txBox="1"/>
            <p:nvPr/>
          </p:nvSpPr>
          <p:spPr>
            <a:xfrm>
              <a:off x="649200" y="2179400"/>
              <a:ext cx="1513200" cy="155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Adds layer of Fraud Prevention</a:t>
              </a:r>
              <a:r>
                <a:rPr i="0" lang="en-US" sz="1000" u="none" cap="none" strike="noStrik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 e.g.  CVV validates Physical possession of the card. AVS matches Billing address provided with actual Billing address. </a:t>
              </a:r>
              <a:endParaRPr sz="1000"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4" name="Google Shape;154;p11"/>
          <p:cNvGrpSpPr/>
          <p:nvPr/>
        </p:nvGrpSpPr>
        <p:grpSpPr>
          <a:xfrm>
            <a:off x="4868750" y="1717475"/>
            <a:ext cx="1513200" cy="1500825"/>
            <a:chOff x="649200" y="1717475"/>
            <a:chExt cx="1513200" cy="1500825"/>
          </a:xfrm>
        </p:grpSpPr>
        <p:sp>
          <p:nvSpPr>
            <p:cNvPr id="155" name="Google Shape;155;p11"/>
            <p:cNvSpPr/>
            <p:nvPr/>
          </p:nvSpPr>
          <p:spPr>
            <a:xfrm>
              <a:off x="649200" y="1717475"/>
              <a:ext cx="1457500" cy="3174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PCI DSS</a:t>
              </a:r>
              <a:endPara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6" name="Google Shape;156;p11"/>
            <p:cNvSpPr txBox="1"/>
            <p:nvPr/>
          </p:nvSpPr>
          <p:spPr>
            <a:xfrm>
              <a:off x="649200" y="2179400"/>
              <a:ext cx="1513200" cy="10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PCI DSS aims </a:t>
              </a:r>
              <a:r>
                <a:rPr i="0" lang="en-US" sz="1000" u="none" cap="none" strike="noStrik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to protect cardholder data (like card numbers, expiration dates, etc.) from unauthorized access, fraud, and data breaches.</a:t>
              </a:r>
              <a:endParaRPr sz="1000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7" name="Google Shape;157;p11"/>
          <p:cNvGrpSpPr/>
          <p:nvPr/>
        </p:nvGrpSpPr>
        <p:grpSpPr>
          <a:xfrm>
            <a:off x="6978524" y="1717475"/>
            <a:ext cx="1513201" cy="1500825"/>
            <a:chOff x="689899" y="1717475"/>
            <a:chExt cx="1513201" cy="1500825"/>
          </a:xfrm>
        </p:grpSpPr>
        <p:sp>
          <p:nvSpPr>
            <p:cNvPr id="158" name="Google Shape;158;p11"/>
            <p:cNvSpPr/>
            <p:nvPr/>
          </p:nvSpPr>
          <p:spPr>
            <a:xfrm>
              <a:off x="689899" y="1717475"/>
              <a:ext cx="1428875" cy="3174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Tokenization</a:t>
              </a:r>
              <a:endParaRPr b="0" i="0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59" name="Google Shape;159;p11"/>
            <p:cNvSpPr txBox="1"/>
            <p:nvPr/>
          </p:nvSpPr>
          <p:spPr>
            <a:xfrm>
              <a:off x="689900" y="2179400"/>
              <a:ext cx="1513200" cy="10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Replaces card number with Tokens</a:t>
              </a:r>
              <a:r>
                <a:rPr i="0" lang="en-US" sz="1000" u="none" cap="none" strike="noStrik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 e.g. Based on level of tokenization used, Card numbers are replaced in transaction with tokens.</a:t>
              </a:r>
              <a:endParaRPr sz="1000"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60" name="Google Shape;160;p11"/>
          <p:cNvSpPr txBox="1"/>
          <p:nvPr/>
        </p:nvSpPr>
        <p:spPr>
          <a:xfrm>
            <a:off x="8407400" y="4829775"/>
            <a:ext cx="32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US" sz="6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1" name="Google Shape;161;p11"/>
          <p:cNvSpPr txBox="1"/>
          <p:nvPr/>
        </p:nvSpPr>
        <p:spPr>
          <a:xfrm>
            <a:off x="5334325" y="4822125"/>
            <a:ext cx="2692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© 2025 Global Payments Inc. All rights reserved.</a:t>
            </a:r>
            <a:endParaRPr b="0" i="0" sz="7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62" name="Google Shape;162;p11" title="g-icon-white.png"/>
          <p:cNvPicPr preferRelativeResize="0"/>
          <p:nvPr/>
        </p:nvPicPr>
        <p:blipFill rotWithShape="1">
          <a:blip r:embed="rId3">
            <a:alphaModFix/>
          </a:blip>
          <a:srcRect b="19" l="0" r="0" t="9"/>
          <a:stretch/>
        </p:blipFill>
        <p:spPr>
          <a:xfrm>
            <a:off x="411480" y="4727448"/>
            <a:ext cx="165175" cy="22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orange logo&#10;&#10;AI-generated content may be incorrect." id="163" name="Google Shape;16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2179" y="3595642"/>
            <a:ext cx="535734" cy="6314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credit card with a black background&#10;&#10;AI-generated content may be incorrect." id="164" name="Google Shape;16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22501" y="3665420"/>
            <a:ext cx="621845" cy="621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logo&#10;&#10;AI-generated content may be incorrect." id="165" name="Google Shape;16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44092" y="3700860"/>
            <a:ext cx="564618" cy="448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go of a company&#10;&#10;AI-generated content may be incorrect." id="166" name="Google Shape;166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09674" y="3665420"/>
            <a:ext cx="1053751" cy="43692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1"/>
          <p:cNvSpPr txBox="1"/>
          <p:nvPr/>
        </p:nvSpPr>
        <p:spPr>
          <a:xfrm>
            <a:off x="414000" y="187325"/>
            <a:ext cx="5259052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Security and Compliance</a:t>
            </a:r>
            <a:endParaRPr b="0" i="0" sz="3200" u="none" cap="none" strike="noStrike">
              <a:solidFill>
                <a:srgbClr val="262AFF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/>
          <p:nvPr/>
        </p:nvSpPr>
        <p:spPr>
          <a:xfrm>
            <a:off x="3035343" y="990874"/>
            <a:ext cx="1989900" cy="3671100"/>
          </a:xfrm>
          <a:prstGeom prst="roundRect">
            <a:avLst>
              <a:gd fmla="val 11174" name="adj"/>
            </a:avLst>
          </a:prstGeom>
          <a:solidFill>
            <a:schemeClr val="lt1"/>
          </a:solidFill>
          <a:ln>
            <a:noFill/>
          </a:ln>
          <a:effectLst>
            <a:outerShdw blurRad="100013" rotWithShape="0" algn="bl" dir="4800000" dist="1905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5146964" y="1043358"/>
            <a:ext cx="1989900" cy="3671181"/>
          </a:xfrm>
          <a:prstGeom prst="roundRect">
            <a:avLst>
              <a:gd fmla="val 11602" name="adj"/>
            </a:avLst>
          </a:prstGeom>
          <a:solidFill>
            <a:schemeClr val="lt1"/>
          </a:solidFill>
          <a:ln>
            <a:noFill/>
          </a:ln>
          <a:effectLst>
            <a:outerShdw blurRad="100013" rotWithShape="0" algn="bl" dir="4800000" dist="1905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926618" y="990874"/>
            <a:ext cx="1989900" cy="3671181"/>
          </a:xfrm>
          <a:prstGeom prst="roundRect">
            <a:avLst>
              <a:gd fmla="val 11524" name="adj"/>
            </a:avLst>
          </a:prstGeom>
          <a:solidFill>
            <a:schemeClr val="lt1"/>
          </a:solidFill>
          <a:ln>
            <a:noFill/>
          </a:ln>
          <a:effectLst>
            <a:outerShdw blurRad="100013" rotWithShape="0" algn="bl" dir="4800000" dist="1905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75" name="Google Shape;175;p12"/>
          <p:cNvGrpSpPr/>
          <p:nvPr/>
        </p:nvGrpSpPr>
        <p:grpSpPr>
          <a:xfrm>
            <a:off x="1368760" y="922175"/>
            <a:ext cx="1180200" cy="1223015"/>
            <a:chOff x="599850" y="1341283"/>
            <a:chExt cx="1180200" cy="1543739"/>
          </a:xfrm>
        </p:grpSpPr>
        <p:pic>
          <p:nvPicPr>
            <p:cNvPr id="176" name="Google Shape;176;p12" title="woman-customer-online-shopping-icon-set-vector-44264173.jpg"/>
            <p:cNvPicPr preferRelativeResize="0"/>
            <p:nvPr/>
          </p:nvPicPr>
          <p:blipFill rotWithShape="1">
            <a:blip r:embed="rId3">
              <a:alphaModFix/>
            </a:blip>
            <a:srcRect b="14150" l="0" r="0" t="-14150"/>
            <a:stretch/>
          </p:blipFill>
          <p:spPr>
            <a:xfrm>
              <a:off x="599850" y="1341283"/>
              <a:ext cx="1180200" cy="12746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2"/>
            <p:cNvSpPr txBox="1"/>
            <p:nvPr/>
          </p:nvSpPr>
          <p:spPr>
            <a:xfrm>
              <a:off x="817420" y="2535383"/>
              <a:ext cx="849913" cy="3496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92500"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Customer</a:t>
              </a:r>
              <a:endParaRPr/>
            </a:p>
          </p:txBody>
        </p:sp>
      </p:grpSp>
      <p:sp>
        <p:nvSpPr>
          <p:cNvPr id="178" name="Google Shape;178;p12"/>
          <p:cNvSpPr txBox="1"/>
          <p:nvPr/>
        </p:nvSpPr>
        <p:spPr>
          <a:xfrm>
            <a:off x="5701237" y="1943743"/>
            <a:ext cx="8242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Merchant</a:t>
            </a:r>
            <a:endParaRPr/>
          </a:p>
        </p:txBody>
      </p:sp>
      <p:grpSp>
        <p:nvGrpSpPr>
          <p:cNvPr id="179" name="Google Shape;179;p12"/>
          <p:cNvGrpSpPr/>
          <p:nvPr/>
        </p:nvGrpSpPr>
        <p:grpSpPr>
          <a:xfrm>
            <a:off x="5713399" y="3438708"/>
            <a:ext cx="847013" cy="1272902"/>
            <a:chOff x="4554512" y="1724145"/>
            <a:chExt cx="847013" cy="1272902"/>
          </a:xfrm>
        </p:grpSpPr>
        <p:pic>
          <p:nvPicPr>
            <p:cNvPr id="180" name="Google Shape;18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54512" y="1724145"/>
              <a:ext cx="847013" cy="847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12"/>
            <p:cNvSpPr txBox="1"/>
            <p:nvPr/>
          </p:nvSpPr>
          <p:spPr>
            <a:xfrm>
              <a:off x="4558147" y="2535382"/>
              <a:ext cx="79060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92500"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Payment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Gateway</a:t>
              </a:r>
              <a:endParaRPr/>
            </a:p>
          </p:txBody>
        </p:sp>
      </p:grpSp>
      <p:grpSp>
        <p:nvGrpSpPr>
          <p:cNvPr id="182" name="Google Shape;182;p12"/>
          <p:cNvGrpSpPr/>
          <p:nvPr/>
        </p:nvGrpSpPr>
        <p:grpSpPr>
          <a:xfrm>
            <a:off x="3530703" y="3651703"/>
            <a:ext cx="1041297" cy="1006615"/>
            <a:chOff x="6360999" y="3610176"/>
            <a:chExt cx="1041297" cy="1006615"/>
          </a:xfrm>
        </p:grpSpPr>
        <p:pic>
          <p:nvPicPr>
            <p:cNvPr id="183" name="Google Shape;183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60999" y="3610176"/>
              <a:ext cx="1041297" cy="750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p12"/>
            <p:cNvSpPr txBox="1"/>
            <p:nvPr/>
          </p:nvSpPr>
          <p:spPr>
            <a:xfrm>
              <a:off x="6451701" y="4339792"/>
              <a:ext cx="73930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85000"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Schemes</a:t>
              </a:r>
              <a:endParaRPr/>
            </a:p>
          </p:txBody>
        </p:sp>
      </p:grpSp>
      <p:pic>
        <p:nvPicPr>
          <p:cNvPr id="185" name="Google Shape;18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8760" y="3769356"/>
            <a:ext cx="925870" cy="7624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gear with a yellow file in the center&#10;&#10;AI-generated content may be incorrect." id="186" name="Google Shape;186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51647" y="1211597"/>
            <a:ext cx="415055" cy="41505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2"/>
          <p:cNvSpPr txBox="1"/>
          <p:nvPr/>
        </p:nvSpPr>
        <p:spPr>
          <a:xfrm>
            <a:off x="5170300" y="1625519"/>
            <a:ext cx="82907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3DS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Requestor</a:t>
            </a:r>
            <a:endParaRPr/>
          </a:p>
        </p:txBody>
      </p:sp>
      <p:sp>
        <p:nvSpPr>
          <p:cNvPr id="188" name="Google Shape;188;p12"/>
          <p:cNvSpPr txBox="1"/>
          <p:nvPr/>
        </p:nvSpPr>
        <p:spPr>
          <a:xfrm>
            <a:off x="5741586" y="1728855"/>
            <a:ext cx="110347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3DS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Server</a:t>
            </a:r>
            <a:endParaRPr/>
          </a:p>
        </p:txBody>
      </p:sp>
      <p:cxnSp>
        <p:nvCxnSpPr>
          <p:cNvPr id="189" name="Google Shape;189;p12"/>
          <p:cNvCxnSpPr/>
          <p:nvPr/>
        </p:nvCxnSpPr>
        <p:spPr>
          <a:xfrm>
            <a:off x="2632364" y="1672936"/>
            <a:ext cx="2701636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190" name="Google Shape;190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84687" y="2411242"/>
            <a:ext cx="606267" cy="7304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2"/>
          <p:cNvCxnSpPr/>
          <p:nvPr/>
        </p:nvCxnSpPr>
        <p:spPr>
          <a:xfrm>
            <a:off x="6255327" y="2157821"/>
            <a:ext cx="0" cy="1280887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descr="A computer server with many squares&#10;&#10;AI-generated content may be incorrect." id="192" name="Google Shape;192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flipH="1">
            <a:off x="5913089" y="1161215"/>
            <a:ext cx="600909" cy="6009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193;p12"/>
          <p:cNvCxnSpPr/>
          <p:nvPr/>
        </p:nvCxnSpPr>
        <p:spPr>
          <a:xfrm flipH="1">
            <a:off x="4445630" y="2220742"/>
            <a:ext cx="1401000" cy="375000"/>
          </a:xfrm>
          <a:prstGeom prst="bentConnector3">
            <a:avLst>
              <a:gd fmla="val 1048" name="adj1"/>
            </a:avLst>
          </a:prstGeom>
          <a:noFill/>
          <a:ln cap="flat" cmpd="sng" w="28575">
            <a:solidFill>
              <a:srgbClr val="FB9B4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" name="Google Shape;194;p12"/>
          <p:cNvCxnSpPr/>
          <p:nvPr/>
        </p:nvCxnSpPr>
        <p:spPr>
          <a:xfrm flipH="1">
            <a:off x="1586472" y="2595816"/>
            <a:ext cx="2143500" cy="1173600"/>
          </a:xfrm>
          <a:prstGeom prst="bentConnector3">
            <a:avLst>
              <a:gd fmla="val 100096" name="adj1"/>
            </a:avLst>
          </a:prstGeom>
          <a:noFill/>
          <a:ln cap="flat" cmpd="sng" w="28575">
            <a:solidFill>
              <a:srgbClr val="FB9B4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5" name="Google Shape;195;p12"/>
          <p:cNvCxnSpPr/>
          <p:nvPr/>
        </p:nvCxnSpPr>
        <p:spPr>
          <a:xfrm flipH="1" rot="10800000">
            <a:off x="2029691" y="2847156"/>
            <a:ext cx="1755000" cy="922200"/>
          </a:xfrm>
          <a:prstGeom prst="bentConnector3">
            <a:avLst>
              <a:gd fmla="val -524" name="adj1"/>
            </a:avLst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96" name="Google Shape;196;p12"/>
          <p:cNvCxnSpPr/>
          <p:nvPr/>
        </p:nvCxnSpPr>
        <p:spPr>
          <a:xfrm flipH="1" rot="10800000">
            <a:off x="4445670" y="2253709"/>
            <a:ext cx="1539600" cy="593400"/>
          </a:xfrm>
          <a:prstGeom prst="bentConnector3">
            <a:avLst>
              <a:gd fmla="val 99489" name="adj1"/>
            </a:avLst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97" name="Google Shape;197;p12"/>
          <p:cNvCxnSpPr/>
          <p:nvPr/>
        </p:nvCxnSpPr>
        <p:spPr>
          <a:xfrm rot="10800000">
            <a:off x="4689764" y="3997036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98" name="Google Shape;198;p12"/>
          <p:cNvCxnSpPr/>
          <p:nvPr/>
        </p:nvCxnSpPr>
        <p:spPr>
          <a:xfrm rot="10800000">
            <a:off x="2369127" y="3997036"/>
            <a:ext cx="10668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99" name="Google Shape;199;p12"/>
          <p:cNvSpPr txBox="1"/>
          <p:nvPr/>
        </p:nvSpPr>
        <p:spPr>
          <a:xfrm>
            <a:off x="1170709" y="4724397"/>
            <a:ext cx="13508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Issuer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Domain</a:t>
            </a:r>
            <a:endParaRPr/>
          </a:p>
        </p:txBody>
      </p:sp>
      <p:sp>
        <p:nvSpPr>
          <p:cNvPr id="200" name="Google Shape;200;p12"/>
          <p:cNvSpPr txBox="1"/>
          <p:nvPr/>
        </p:nvSpPr>
        <p:spPr>
          <a:xfrm>
            <a:off x="5541828" y="4717469"/>
            <a:ext cx="15378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Acquirer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Domain</a:t>
            </a:r>
            <a:endParaRPr/>
          </a:p>
        </p:txBody>
      </p:sp>
      <p:sp>
        <p:nvSpPr>
          <p:cNvPr id="201" name="Google Shape;201;p12"/>
          <p:cNvSpPr txBox="1"/>
          <p:nvPr/>
        </p:nvSpPr>
        <p:spPr>
          <a:xfrm>
            <a:off x="3082642" y="4738250"/>
            <a:ext cx="21157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Interoperability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Domain</a:t>
            </a:r>
            <a:endParaRPr/>
          </a:p>
        </p:txBody>
      </p:sp>
      <p:cxnSp>
        <p:nvCxnSpPr>
          <p:cNvPr id="202" name="Google Shape;202;p12"/>
          <p:cNvCxnSpPr/>
          <p:nvPr/>
        </p:nvCxnSpPr>
        <p:spPr>
          <a:xfrm>
            <a:off x="2369124" y="4194364"/>
            <a:ext cx="1066803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3" name="Google Shape;203;p12"/>
          <p:cNvCxnSpPr/>
          <p:nvPr/>
        </p:nvCxnSpPr>
        <p:spPr>
          <a:xfrm>
            <a:off x="4689764" y="4194364"/>
            <a:ext cx="962893" cy="6928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4" name="Google Shape;204;p12"/>
          <p:cNvCxnSpPr/>
          <p:nvPr/>
        </p:nvCxnSpPr>
        <p:spPr>
          <a:xfrm rot="10800000">
            <a:off x="6560412" y="2126317"/>
            <a:ext cx="0" cy="1392737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5" name="Google Shape;205;p12"/>
          <p:cNvCxnSpPr/>
          <p:nvPr/>
        </p:nvCxnSpPr>
        <p:spPr>
          <a:xfrm rot="10800000">
            <a:off x="2548960" y="1868192"/>
            <a:ext cx="2649392" cy="25649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6" name="Google Shape;206;p12"/>
          <p:cNvSpPr txBox="1"/>
          <p:nvPr/>
        </p:nvSpPr>
        <p:spPr>
          <a:xfrm>
            <a:off x="2966600" y="800250"/>
            <a:ext cx="282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3DS</a:t>
            </a:r>
            <a:r>
              <a:rPr i="0" lang="en-US" sz="1200" u="none" cap="none" strike="noStrike">
                <a:solidFill>
                  <a:srgbClr val="A5A5A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Requester</a:t>
            </a:r>
            <a:r>
              <a:rPr i="0" lang="en-US" sz="1200" u="none" cap="none" strike="noStrike">
                <a:solidFill>
                  <a:srgbClr val="A5A5A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environment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7" name="Google Shape;207;p12"/>
          <p:cNvSpPr txBox="1"/>
          <p:nvPr/>
        </p:nvSpPr>
        <p:spPr>
          <a:xfrm>
            <a:off x="414000" y="187325"/>
            <a:ext cx="5259052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3DS2 – Frictionless Flow</a:t>
            </a:r>
            <a:endParaRPr b="0" i="0" sz="3200" u="none" cap="none" strike="noStrike">
              <a:solidFill>
                <a:srgbClr val="262AFF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1039143" y="1058583"/>
            <a:ext cx="5888100" cy="12399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D8D8D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3666200" y="1355150"/>
            <a:ext cx="91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1.Auth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0" name="Google Shape;210;p12"/>
          <p:cNvSpPr txBox="1"/>
          <p:nvPr/>
        </p:nvSpPr>
        <p:spPr>
          <a:xfrm>
            <a:off x="4885400" y="3717350"/>
            <a:ext cx="91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7.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Auth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1" name="Google Shape;211;p12"/>
          <p:cNvSpPr txBox="1"/>
          <p:nvPr/>
        </p:nvSpPr>
        <p:spPr>
          <a:xfrm>
            <a:off x="2599400" y="3717350"/>
            <a:ext cx="91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8.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Auth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2" name="Google Shape;212;p12"/>
          <p:cNvSpPr txBox="1"/>
          <p:nvPr/>
        </p:nvSpPr>
        <p:spPr>
          <a:xfrm rot="-5400000">
            <a:off x="5876000" y="2498150"/>
            <a:ext cx="91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6.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Auth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3" name="Google Shape;213;p12"/>
          <p:cNvSpPr txBox="1"/>
          <p:nvPr/>
        </p:nvSpPr>
        <p:spPr>
          <a:xfrm>
            <a:off x="5114000" y="2345750"/>
            <a:ext cx="91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2.AReq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2370800" y="2345750"/>
            <a:ext cx="91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AReq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2370800" y="2802950"/>
            <a:ext cx="91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4.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ARes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5114000" y="2802950"/>
            <a:ext cx="91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ARes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7" name="Google Shape;217;p12"/>
          <p:cNvSpPr txBox="1"/>
          <p:nvPr/>
        </p:nvSpPr>
        <p:spPr>
          <a:xfrm>
            <a:off x="2294600" y="4174550"/>
            <a:ext cx="118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9.Auth Response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4580600" y="4174550"/>
            <a:ext cx="126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10.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Auth Response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3361400" y="1812350"/>
            <a:ext cx="144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12.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Auth Response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0" name="Google Shape;220;p12"/>
          <p:cNvSpPr txBox="1"/>
          <p:nvPr/>
        </p:nvSpPr>
        <p:spPr>
          <a:xfrm rot="-5400000">
            <a:off x="6104600" y="2650550"/>
            <a:ext cx="118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11.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Auth Response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"/>
          <p:cNvSpPr/>
          <p:nvPr/>
        </p:nvSpPr>
        <p:spPr>
          <a:xfrm>
            <a:off x="3035343" y="990874"/>
            <a:ext cx="1989900" cy="3671100"/>
          </a:xfrm>
          <a:prstGeom prst="roundRect">
            <a:avLst>
              <a:gd fmla="val 11174" name="adj"/>
            </a:avLst>
          </a:prstGeom>
          <a:solidFill>
            <a:schemeClr val="lt1"/>
          </a:solidFill>
          <a:ln>
            <a:noFill/>
          </a:ln>
          <a:effectLst>
            <a:outerShdw blurRad="100013" rotWithShape="0" algn="bl" dir="4800000" dist="1905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5144064" y="1058583"/>
            <a:ext cx="1989900" cy="3671100"/>
          </a:xfrm>
          <a:prstGeom prst="roundRect">
            <a:avLst>
              <a:gd fmla="val 11602" name="adj"/>
            </a:avLst>
          </a:prstGeom>
          <a:solidFill>
            <a:schemeClr val="lt1"/>
          </a:solidFill>
          <a:ln>
            <a:noFill/>
          </a:ln>
          <a:effectLst>
            <a:outerShdw blurRad="100013" rotWithShape="0" algn="bl" dir="4800000" dist="1905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926618" y="990874"/>
            <a:ext cx="1989900" cy="3671100"/>
          </a:xfrm>
          <a:prstGeom prst="roundRect">
            <a:avLst>
              <a:gd fmla="val 11524" name="adj"/>
            </a:avLst>
          </a:prstGeom>
          <a:solidFill>
            <a:schemeClr val="lt1"/>
          </a:solidFill>
          <a:ln>
            <a:noFill/>
          </a:ln>
          <a:effectLst>
            <a:outerShdw blurRad="100013" rotWithShape="0" algn="bl" dir="4800000" dist="1905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28" name="Google Shape;228;p13"/>
          <p:cNvGrpSpPr/>
          <p:nvPr/>
        </p:nvGrpSpPr>
        <p:grpSpPr>
          <a:xfrm>
            <a:off x="1368760" y="922119"/>
            <a:ext cx="1180200" cy="1222840"/>
            <a:chOff x="599850" y="1341283"/>
            <a:chExt cx="1180200" cy="1543600"/>
          </a:xfrm>
        </p:grpSpPr>
        <p:pic>
          <p:nvPicPr>
            <p:cNvPr id="229" name="Google Shape;229;p13" title="woman-customer-online-shopping-icon-set-vector-44264173.jpg"/>
            <p:cNvPicPr preferRelativeResize="0"/>
            <p:nvPr/>
          </p:nvPicPr>
          <p:blipFill rotWithShape="1">
            <a:blip r:embed="rId3">
              <a:alphaModFix/>
            </a:blip>
            <a:srcRect b="14150" l="0" r="0" t="-14150"/>
            <a:stretch/>
          </p:blipFill>
          <p:spPr>
            <a:xfrm>
              <a:off x="599850" y="1341283"/>
              <a:ext cx="1180200" cy="12746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" name="Google Shape;230;p13"/>
            <p:cNvSpPr txBox="1"/>
            <p:nvPr/>
          </p:nvSpPr>
          <p:spPr>
            <a:xfrm>
              <a:off x="817420" y="2535383"/>
              <a:ext cx="849900" cy="34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92500"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Customer</a:t>
              </a:r>
              <a:endParaRPr/>
            </a:p>
          </p:txBody>
        </p:sp>
      </p:grpSp>
      <p:sp>
        <p:nvSpPr>
          <p:cNvPr id="231" name="Google Shape;231;p13"/>
          <p:cNvSpPr txBox="1"/>
          <p:nvPr/>
        </p:nvSpPr>
        <p:spPr>
          <a:xfrm>
            <a:off x="5701237" y="1943743"/>
            <a:ext cx="824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Merchant</a:t>
            </a:r>
            <a:endParaRPr/>
          </a:p>
        </p:txBody>
      </p:sp>
      <p:grpSp>
        <p:nvGrpSpPr>
          <p:cNvPr id="232" name="Google Shape;232;p13"/>
          <p:cNvGrpSpPr/>
          <p:nvPr/>
        </p:nvGrpSpPr>
        <p:grpSpPr>
          <a:xfrm>
            <a:off x="6018199" y="3438708"/>
            <a:ext cx="847013" cy="1272937"/>
            <a:chOff x="4554512" y="1724145"/>
            <a:chExt cx="847013" cy="1272937"/>
          </a:xfrm>
        </p:grpSpPr>
        <p:pic>
          <p:nvPicPr>
            <p:cNvPr id="233" name="Google Shape;233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54512" y="1724145"/>
              <a:ext cx="847013" cy="847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p13"/>
            <p:cNvSpPr txBox="1"/>
            <p:nvPr/>
          </p:nvSpPr>
          <p:spPr>
            <a:xfrm>
              <a:off x="4558147" y="2535382"/>
              <a:ext cx="79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92500"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Payment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Gateway</a:t>
              </a:r>
              <a:endParaRPr/>
            </a:p>
          </p:txBody>
        </p:sp>
      </p:grpSp>
      <p:grpSp>
        <p:nvGrpSpPr>
          <p:cNvPr id="235" name="Google Shape;235;p13"/>
          <p:cNvGrpSpPr/>
          <p:nvPr/>
        </p:nvGrpSpPr>
        <p:grpSpPr>
          <a:xfrm>
            <a:off x="3530703" y="3651703"/>
            <a:ext cx="1041297" cy="1006516"/>
            <a:chOff x="6360999" y="3610176"/>
            <a:chExt cx="1041297" cy="1006516"/>
          </a:xfrm>
        </p:grpSpPr>
        <p:pic>
          <p:nvPicPr>
            <p:cNvPr id="236" name="Google Shape;236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60999" y="3610176"/>
              <a:ext cx="1041297" cy="750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" name="Google Shape;237;p13"/>
            <p:cNvSpPr txBox="1"/>
            <p:nvPr/>
          </p:nvSpPr>
          <p:spPr>
            <a:xfrm>
              <a:off x="6451701" y="4339792"/>
              <a:ext cx="7392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85000"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Schemes</a:t>
              </a:r>
              <a:endParaRPr/>
            </a:p>
          </p:txBody>
        </p:sp>
      </p:grpSp>
      <p:pic>
        <p:nvPicPr>
          <p:cNvPr id="238" name="Google Shape;23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8760" y="3769356"/>
            <a:ext cx="925870" cy="7624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gear with a yellow file in the center&#10;&#10;AI-generated content may be incorrect." id="239" name="Google Shape;23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51647" y="1211597"/>
            <a:ext cx="415055" cy="41505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3"/>
          <p:cNvSpPr txBox="1"/>
          <p:nvPr/>
        </p:nvSpPr>
        <p:spPr>
          <a:xfrm>
            <a:off x="5170300" y="1625519"/>
            <a:ext cx="82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3DS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Requestor</a:t>
            </a:r>
            <a:endParaRPr/>
          </a:p>
        </p:txBody>
      </p:sp>
      <p:sp>
        <p:nvSpPr>
          <p:cNvPr id="241" name="Google Shape;241;p13"/>
          <p:cNvSpPr txBox="1"/>
          <p:nvPr/>
        </p:nvSpPr>
        <p:spPr>
          <a:xfrm>
            <a:off x="5741586" y="1728855"/>
            <a:ext cx="1103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3DS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Server</a:t>
            </a:r>
            <a:endParaRPr/>
          </a:p>
        </p:txBody>
      </p:sp>
      <p:cxnSp>
        <p:nvCxnSpPr>
          <p:cNvPr id="242" name="Google Shape;242;p13"/>
          <p:cNvCxnSpPr/>
          <p:nvPr/>
        </p:nvCxnSpPr>
        <p:spPr>
          <a:xfrm>
            <a:off x="2632364" y="1444336"/>
            <a:ext cx="27015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43" name="Google Shape;243;p13"/>
          <p:cNvCxnSpPr/>
          <p:nvPr/>
        </p:nvCxnSpPr>
        <p:spPr>
          <a:xfrm>
            <a:off x="6407727" y="2157821"/>
            <a:ext cx="0" cy="12810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descr="A computer server with many squares&#10;&#10;AI-generated content may be incorrect." id="244" name="Google Shape;24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>
            <a:off x="5913089" y="1161215"/>
            <a:ext cx="600909" cy="6009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5" name="Google Shape;245;p13"/>
          <p:cNvCxnSpPr/>
          <p:nvPr/>
        </p:nvCxnSpPr>
        <p:spPr>
          <a:xfrm flipH="1">
            <a:off x="4445630" y="2220742"/>
            <a:ext cx="1401000" cy="375000"/>
          </a:xfrm>
          <a:prstGeom prst="bentConnector3">
            <a:avLst>
              <a:gd fmla="val 1048" name="adj1"/>
            </a:avLst>
          </a:prstGeom>
          <a:noFill/>
          <a:ln cap="flat" cmpd="sng" w="28575">
            <a:solidFill>
              <a:srgbClr val="FB9B4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6" name="Google Shape;246;p13"/>
          <p:cNvCxnSpPr/>
          <p:nvPr/>
        </p:nvCxnSpPr>
        <p:spPr>
          <a:xfrm flipH="1">
            <a:off x="1815072" y="2595816"/>
            <a:ext cx="2143500" cy="1173600"/>
          </a:xfrm>
          <a:prstGeom prst="bentConnector3">
            <a:avLst>
              <a:gd fmla="val 100096" name="adj1"/>
            </a:avLst>
          </a:prstGeom>
          <a:noFill/>
          <a:ln cap="flat" cmpd="sng" w="28575">
            <a:solidFill>
              <a:srgbClr val="FB9B4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7" name="Google Shape;247;p13"/>
          <p:cNvCxnSpPr/>
          <p:nvPr/>
        </p:nvCxnSpPr>
        <p:spPr>
          <a:xfrm flipH="1" rot="10800000">
            <a:off x="1953491" y="2770956"/>
            <a:ext cx="1755000" cy="922200"/>
          </a:xfrm>
          <a:prstGeom prst="bentConnector3">
            <a:avLst>
              <a:gd fmla="val -524" name="adj1"/>
            </a:avLst>
          </a:prstGeom>
          <a:noFill/>
          <a:ln cap="flat" cmpd="sng" w="25400">
            <a:solidFill>
              <a:srgbClr val="B45F0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248" name="Google Shape;248;p13"/>
          <p:cNvCxnSpPr/>
          <p:nvPr/>
        </p:nvCxnSpPr>
        <p:spPr>
          <a:xfrm flipH="1" rot="10800000">
            <a:off x="4369470" y="2177509"/>
            <a:ext cx="1539600" cy="593400"/>
          </a:xfrm>
          <a:prstGeom prst="bentConnector3">
            <a:avLst>
              <a:gd fmla="val 99489" name="adj1"/>
            </a:avLst>
          </a:prstGeom>
          <a:noFill/>
          <a:ln cap="flat" cmpd="sng" w="25400">
            <a:solidFill>
              <a:srgbClr val="B45F06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249" name="Google Shape;249;p13"/>
          <p:cNvCxnSpPr/>
          <p:nvPr/>
        </p:nvCxnSpPr>
        <p:spPr>
          <a:xfrm rot="10800000">
            <a:off x="4689764" y="3997036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0" name="Google Shape;250;p13"/>
          <p:cNvCxnSpPr/>
          <p:nvPr/>
        </p:nvCxnSpPr>
        <p:spPr>
          <a:xfrm rot="10800000">
            <a:off x="2369127" y="3997036"/>
            <a:ext cx="10668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51" name="Google Shape;251;p13"/>
          <p:cNvSpPr txBox="1"/>
          <p:nvPr/>
        </p:nvSpPr>
        <p:spPr>
          <a:xfrm>
            <a:off x="1170709" y="4724397"/>
            <a:ext cx="135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Issuer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Domain</a:t>
            </a:r>
            <a:endParaRPr/>
          </a:p>
        </p:txBody>
      </p:sp>
      <p:sp>
        <p:nvSpPr>
          <p:cNvPr id="252" name="Google Shape;252;p13"/>
          <p:cNvSpPr txBox="1"/>
          <p:nvPr/>
        </p:nvSpPr>
        <p:spPr>
          <a:xfrm>
            <a:off x="5541828" y="4717469"/>
            <a:ext cx="153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Acquirer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Domain</a:t>
            </a:r>
            <a:endParaRPr/>
          </a:p>
        </p:txBody>
      </p:sp>
      <p:sp>
        <p:nvSpPr>
          <p:cNvPr id="253" name="Google Shape;253;p13"/>
          <p:cNvSpPr txBox="1"/>
          <p:nvPr/>
        </p:nvSpPr>
        <p:spPr>
          <a:xfrm>
            <a:off x="3082642" y="4738250"/>
            <a:ext cx="21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Interoperability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Domain</a:t>
            </a:r>
            <a:endParaRPr/>
          </a:p>
        </p:txBody>
      </p:sp>
      <p:cxnSp>
        <p:nvCxnSpPr>
          <p:cNvPr id="254" name="Google Shape;254;p13"/>
          <p:cNvCxnSpPr/>
          <p:nvPr/>
        </p:nvCxnSpPr>
        <p:spPr>
          <a:xfrm>
            <a:off x="2369124" y="4194364"/>
            <a:ext cx="1066800" cy="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" name="Google Shape;255;p13"/>
          <p:cNvCxnSpPr/>
          <p:nvPr/>
        </p:nvCxnSpPr>
        <p:spPr>
          <a:xfrm>
            <a:off x="4689764" y="4194364"/>
            <a:ext cx="963000" cy="69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6" name="Google Shape;256;p13"/>
          <p:cNvCxnSpPr/>
          <p:nvPr/>
        </p:nvCxnSpPr>
        <p:spPr>
          <a:xfrm rot="10800000">
            <a:off x="6712812" y="2126454"/>
            <a:ext cx="0" cy="13926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7" name="Google Shape;257;p13"/>
          <p:cNvCxnSpPr/>
          <p:nvPr/>
        </p:nvCxnSpPr>
        <p:spPr>
          <a:xfrm rot="10800000">
            <a:off x="2549052" y="1868341"/>
            <a:ext cx="2649300" cy="255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8" name="Google Shape;258;p13"/>
          <p:cNvSpPr txBox="1"/>
          <p:nvPr/>
        </p:nvSpPr>
        <p:spPr>
          <a:xfrm>
            <a:off x="2966600" y="800250"/>
            <a:ext cx="282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3DS</a:t>
            </a:r>
            <a:r>
              <a:rPr i="0" lang="en-US" sz="1200" u="none" cap="none" strike="noStrike">
                <a:solidFill>
                  <a:srgbClr val="A5A5A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Requester</a:t>
            </a:r>
            <a:r>
              <a:rPr i="0" lang="en-US" sz="1200" u="none" cap="none" strike="noStrike">
                <a:solidFill>
                  <a:srgbClr val="A5A5A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environment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9" name="Google Shape;259;p13"/>
          <p:cNvSpPr txBox="1"/>
          <p:nvPr/>
        </p:nvSpPr>
        <p:spPr>
          <a:xfrm>
            <a:off x="414000" y="187325"/>
            <a:ext cx="52590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3DS2 – </a:t>
            </a:r>
            <a:r>
              <a:rPr lang="en-US" sz="3200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Challenge</a:t>
            </a:r>
            <a:r>
              <a:rPr b="0" i="0" lang="en-US" sz="3200" u="none" cap="none" strike="noStrike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 Flow</a:t>
            </a:r>
            <a:endParaRPr b="0" i="0" sz="3200" u="none" cap="none" strike="noStrike">
              <a:solidFill>
                <a:srgbClr val="262AFF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260" name="Google Shape;260;p13"/>
          <p:cNvSpPr txBox="1"/>
          <p:nvPr/>
        </p:nvSpPr>
        <p:spPr>
          <a:xfrm>
            <a:off x="3666200" y="1126550"/>
            <a:ext cx="91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Auth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1" name="Google Shape;261;p13"/>
          <p:cNvSpPr txBox="1"/>
          <p:nvPr/>
        </p:nvSpPr>
        <p:spPr>
          <a:xfrm>
            <a:off x="4885400" y="3717350"/>
            <a:ext cx="91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14.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Auth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2" name="Google Shape;262;p13"/>
          <p:cNvSpPr txBox="1"/>
          <p:nvPr/>
        </p:nvSpPr>
        <p:spPr>
          <a:xfrm>
            <a:off x="2599400" y="3717350"/>
            <a:ext cx="91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15.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Auth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 rot="-5400000">
            <a:off x="6104600" y="2498150"/>
            <a:ext cx="91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13.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Auth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4" name="Google Shape;264;p13"/>
          <p:cNvSpPr txBox="1"/>
          <p:nvPr/>
        </p:nvSpPr>
        <p:spPr>
          <a:xfrm>
            <a:off x="5114000" y="2345750"/>
            <a:ext cx="65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AReq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5" name="Google Shape;265;p13"/>
          <p:cNvSpPr txBox="1"/>
          <p:nvPr/>
        </p:nvSpPr>
        <p:spPr>
          <a:xfrm>
            <a:off x="2370800" y="2345750"/>
            <a:ext cx="91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AReq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6" name="Google Shape;266;p13"/>
          <p:cNvSpPr txBox="1"/>
          <p:nvPr/>
        </p:nvSpPr>
        <p:spPr>
          <a:xfrm>
            <a:off x="1846900" y="2498150"/>
            <a:ext cx="179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4.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ARes with 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Challenge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ind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7" name="Google Shape;267;p13"/>
          <p:cNvSpPr txBox="1"/>
          <p:nvPr/>
        </p:nvSpPr>
        <p:spPr>
          <a:xfrm>
            <a:off x="4369475" y="2498150"/>
            <a:ext cx="17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ARes with challenge ind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8" name="Google Shape;268;p13"/>
          <p:cNvSpPr txBox="1"/>
          <p:nvPr/>
        </p:nvSpPr>
        <p:spPr>
          <a:xfrm>
            <a:off x="2294600" y="4174550"/>
            <a:ext cx="126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16.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Auth Response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9" name="Google Shape;269;p13"/>
          <p:cNvSpPr txBox="1"/>
          <p:nvPr/>
        </p:nvSpPr>
        <p:spPr>
          <a:xfrm>
            <a:off x="4580600" y="4174550"/>
            <a:ext cx="126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17.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Auth Response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0" name="Google Shape;270;p13"/>
          <p:cNvSpPr txBox="1"/>
          <p:nvPr/>
        </p:nvSpPr>
        <p:spPr>
          <a:xfrm>
            <a:off x="3361400" y="1812350"/>
            <a:ext cx="135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19.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Auth Response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1" name="Google Shape;271;p13"/>
          <p:cNvSpPr txBox="1"/>
          <p:nvPr/>
        </p:nvSpPr>
        <p:spPr>
          <a:xfrm rot="-5400000">
            <a:off x="6294675" y="2759513"/>
            <a:ext cx="125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18.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Auth Response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72" name="Google Shape;272;p13"/>
          <p:cNvCxnSpPr/>
          <p:nvPr/>
        </p:nvCxnSpPr>
        <p:spPr>
          <a:xfrm rot="10800000">
            <a:off x="2550250" y="1633275"/>
            <a:ext cx="2779500" cy="7200"/>
          </a:xfrm>
          <a:prstGeom prst="straightConnector1">
            <a:avLst/>
          </a:prstGeom>
          <a:noFill/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273" name="Google Shape;273;p13"/>
          <p:cNvSpPr txBox="1"/>
          <p:nvPr/>
        </p:nvSpPr>
        <p:spPr>
          <a:xfrm>
            <a:off x="3666950" y="1202000"/>
            <a:ext cx="917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6.Creq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74" name="Google Shape;274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84687" y="2411242"/>
            <a:ext cx="606267" cy="7304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5" name="Google Shape;275;p13"/>
          <p:cNvCxnSpPr/>
          <p:nvPr/>
        </p:nvCxnSpPr>
        <p:spPr>
          <a:xfrm>
            <a:off x="1368760" y="1426997"/>
            <a:ext cx="600" cy="2723700"/>
          </a:xfrm>
          <a:prstGeom prst="bentConnector3">
            <a:avLst>
              <a:gd fmla="val -35983333" name="adj1"/>
            </a:avLst>
          </a:prstGeom>
          <a:noFill/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276" name="Google Shape;276;p13"/>
          <p:cNvSpPr txBox="1"/>
          <p:nvPr/>
        </p:nvSpPr>
        <p:spPr>
          <a:xfrm rot="-5400000">
            <a:off x="618200" y="2650550"/>
            <a:ext cx="91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7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.Cres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77" name="Google Shape;277;p13"/>
          <p:cNvCxnSpPr/>
          <p:nvPr/>
        </p:nvCxnSpPr>
        <p:spPr>
          <a:xfrm flipH="1" rot="10800000">
            <a:off x="2023825" y="2985088"/>
            <a:ext cx="1757400" cy="711300"/>
          </a:xfrm>
          <a:prstGeom prst="bentConnector3">
            <a:avLst>
              <a:gd fmla="val -209" name="adj1"/>
            </a:avLst>
          </a:prstGeom>
          <a:noFill/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278" name="Google Shape;278;p13"/>
          <p:cNvSpPr txBox="1"/>
          <p:nvPr/>
        </p:nvSpPr>
        <p:spPr>
          <a:xfrm>
            <a:off x="2370800" y="2726750"/>
            <a:ext cx="91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8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.Cres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79" name="Google Shape;279;p13"/>
          <p:cNvCxnSpPr/>
          <p:nvPr/>
        </p:nvCxnSpPr>
        <p:spPr>
          <a:xfrm flipH="1" rot="10800000">
            <a:off x="4412800" y="2249250"/>
            <a:ext cx="1676400" cy="795300"/>
          </a:xfrm>
          <a:prstGeom prst="bentConnector3">
            <a:avLst>
              <a:gd fmla="val 100422" name="adj1"/>
            </a:avLst>
          </a:prstGeom>
          <a:noFill/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280" name="Google Shape;280;p13"/>
          <p:cNvSpPr txBox="1"/>
          <p:nvPr/>
        </p:nvSpPr>
        <p:spPr>
          <a:xfrm>
            <a:off x="5114000" y="2802950"/>
            <a:ext cx="91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9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.Cres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81" name="Google Shape;281;p13"/>
          <p:cNvCxnSpPr/>
          <p:nvPr/>
        </p:nvCxnSpPr>
        <p:spPr>
          <a:xfrm flipH="1" rot="10800000">
            <a:off x="2100021" y="3159085"/>
            <a:ext cx="1768500" cy="613500"/>
          </a:xfrm>
          <a:prstGeom prst="bentConnector3">
            <a:avLst>
              <a:gd fmla="val 1155" name="adj1"/>
            </a:avLst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282" name="Google Shape;282;p13"/>
          <p:cNvSpPr txBox="1"/>
          <p:nvPr/>
        </p:nvSpPr>
        <p:spPr>
          <a:xfrm>
            <a:off x="2370800" y="2955350"/>
            <a:ext cx="91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9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.Rreq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83" name="Google Shape;283;p13"/>
          <p:cNvCxnSpPr/>
          <p:nvPr/>
        </p:nvCxnSpPr>
        <p:spPr>
          <a:xfrm flipH="1" rot="10800000">
            <a:off x="4484450" y="2249200"/>
            <a:ext cx="1757100" cy="924300"/>
          </a:xfrm>
          <a:prstGeom prst="bentConnector3">
            <a:avLst>
              <a:gd fmla="val 99886" name="adj1"/>
            </a:avLst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284" name="Google Shape;284;p13"/>
          <p:cNvSpPr txBox="1"/>
          <p:nvPr/>
        </p:nvSpPr>
        <p:spPr>
          <a:xfrm>
            <a:off x="5114000" y="2955350"/>
            <a:ext cx="91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.Rreq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85" name="Google Shape;285;p13"/>
          <p:cNvCxnSpPr/>
          <p:nvPr/>
        </p:nvCxnSpPr>
        <p:spPr>
          <a:xfrm flipH="1">
            <a:off x="4126230" y="2363205"/>
            <a:ext cx="2246100" cy="896100"/>
          </a:xfrm>
          <a:prstGeom prst="bentConnector3">
            <a:avLst>
              <a:gd fmla="val 1128" name="adj1"/>
            </a:avLst>
          </a:prstGeom>
          <a:noFill/>
          <a:ln cap="flat" cmpd="sng" w="28575">
            <a:solidFill>
              <a:srgbClr val="97979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6" name="Google Shape;286;p13"/>
          <p:cNvSpPr txBox="1"/>
          <p:nvPr/>
        </p:nvSpPr>
        <p:spPr>
          <a:xfrm>
            <a:off x="5114000" y="3183950"/>
            <a:ext cx="91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11.Rres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87" name="Google Shape;287;p13"/>
          <p:cNvCxnSpPr/>
          <p:nvPr/>
        </p:nvCxnSpPr>
        <p:spPr>
          <a:xfrm flipH="1">
            <a:off x="2226075" y="3266625"/>
            <a:ext cx="1542000" cy="566700"/>
          </a:xfrm>
          <a:prstGeom prst="bentConnector3">
            <a:avLst>
              <a:gd fmla="val 83622" name="adj1"/>
            </a:avLst>
          </a:prstGeom>
          <a:noFill/>
          <a:ln cap="flat" cmpd="sng" w="28575">
            <a:solidFill>
              <a:srgbClr val="97979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8" name="Google Shape;288;p13"/>
          <p:cNvSpPr txBox="1"/>
          <p:nvPr/>
        </p:nvSpPr>
        <p:spPr>
          <a:xfrm>
            <a:off x="2599400" y="3183950"/>
            <a:ext cx="91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12.Rres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1039143" y="1058583"/>
            <a:ext cx="5888100" cy="12399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D8D8D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14"/>
          <p:cNvPicPr preferRelativeResize="0"/>
          <p:nvPr/>
        </p:nvPicPr>
        <p:blipFill rotWithShape="1">
          <a:blip r:embed="rId3">
            <a:alphaModFix/>
          </a:blip>
          <a:srcRect b="16660" l="0" r="0" t="16661"/>
          <a:stretch/>
        </p:blipFill>
        <p:spPr>
          <a:xfrm>
            <a:off x="414000" y="1112938"/>
            <a:ext cx="2695500" cy="1797300"/>
          </a:xfrm>
          <a:prstGeom prst="roundRect">
            <a:avLst>
              <a:gd fmla="val 13107" name="adj"/>
            </a:avLst>
          </a:prstGeom>
          <a:noFill/>
          <a:ln>
            <a:noFill/>
          </a:ln>
        </p:spPr>
      </p:pic>
      <p:pic>
        <p:nvPicPr>
          <p:cNvPr id="295" name="Google Shape;295;p14"/>
          <p:cNvPicPr preferRelativeResize="0"/>
          <p:nvPr/>
        </p:nvPicPr>
        <p:blipFill rotWithShape="1">
          <a:blip r:embed="rId4">
            <a:alphaModFix/>
          </a:blip>
          <a:srcRect b="3400" l="0" r="0" t="3401"/>
          <a:stretch/>
        </p:blipFill>
        <p:spPr>
          <a:xfrm>
            <a:off x="3223050" y="1112938"/>
            <a:ext cx="2695500" cy="1797000"/>
          </a:xfrm>
          <a:prstGeom prst="roundRect">
            <a:avLst>
              <a:gd fmla="val 12749" name="adj"/>
            </a:avLst>
          </a:prstGeom>
          <a:noFill/>
          <a:ln>
            <a:noFill/>
          </a:ln>
        </p:spPr>
      </p:pic>
      <p:sp>
        <p:nvSpPr>
          <p:cNvPr id="296" name="Google Shape;296;p14"/>
          <p:cNvSpPr txBox="1"/>
          <p:nvPr/>
        </p:nvSpPr>
        <p:spPr>
          <a:xfrm>
            <a:off x="414000" y="3079713"/>
            <a:ext cx="25809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rgbClr val="262AFF"/>
                </a:solidFill>
                <a:latin typeface="DM Sans"/>
                <a:ea typeface="DM Sans"/>
                <a:cs typeface="DM Sans"/>
                <a:sym typeface="DM Sans"/>
              </a:rPr>
              <a:t>Card on File (COF)</a:t>
            </a:r>
            <a:endParaRPr b="1" i="0" sz="1400" u="none" cap="none" strike="noStrike">
              <a:solidFill>
                <a:srgbClr val="262A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It refers to the practice where a merchant stores a customer's credit card information for future transactions, with the customer's prior consent.</a:t>
            </a:r>
            <a:endParaRPr b="0" i="0" sz="10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7" name="Google Shape;297;p14"/>
          <p:cNvSpPr txBox="1"/>
          <p:nvPr/>
        </p:nvSpPr>
        <p:spPr>
          <a:xfrm>
            <a:off x="3223050" y="3079713"/>
            <a:ext cx="25809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rgbClr val="262AFF"/>
                </a:solidFill>
                <a:latin typeface="DM Sans"/>
                <a:ea typeface="DM Sans"/>
                <a:cs typeface="DM Sans"/>
                <a:sym typeface="DM Sans"/>
              </a:rPr>
              <a:t>Alternate Payment Methods</a:t>
            </a:r>
            <a:endParaRPr b="1" i="0" sz="1400" u="none" cap="none" strike="noStrike">
              <a:solidFill>
                <a:srgbClr val="262A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APMs in a payment gateway refer to any payment method besides traditional cash or major credit/debit cards. These methods offer more flexibility and convenience for customers and can be integrated into a payment gateway to offer a wider range of options to users.</a:t>
            </a:r>
            <a:endParaRPr b="0" i="0" sz="10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8" name="Google Shape;298;p14"/>
          <p:cNvSpPr txBox="1"/>
          <p:nvPr/>
        </p:nvSpPr>
        <p:spPr>
          <a:xfrm>
            <a:off x="6037225" y="3079710"/>
            <a:ext cx="25809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rgbClr val="262AFF"/>
                </a:solidFill>
                <a:latin typeface="DM Sans"/>
                <a:ea typeface="DM Sans"/>
                <a:cs typeface="DM Sans"/>
                <a:sym typeface="DM Sans"/>
              </a:rPr>
              <a:t>Tokenization</a:t>
            </a:r>
            <a:endParaRPr b="1" i="0" sz="1400" u="none" cap="none" strike="noStrike">
              <a:solidFill>
                <a:srgbClr val="262A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Payment tokenization replaces sensitive card information with a unique, random token. This token acts as a substitute for the actual card details during transactions, enhancing security by preventing the storage or transmission of sensitive data. </a:t>
            </a:r>
            <a:endParaRPr b="0" i="0" sz="10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99" name="Google Shape;299;p14"/>
          <p:cNvPicPr preferRelativeResize="0"/>
          <p:nvPr/>
        </p:nvPicPr>
        <p:blipFill rotWithShape="1">
          <a:blip r:embed="rId5">
            <a:alphaModFix/>
          </a:blip>
          <a:srcRect b="0" l="12506" r="12505" t="0"/>
          <a:stretch/>
        </p:blipFill>
        <p:spPr>
          <a:xfrm>
            <a:off x="6037225" y="1112938"/>
            <a:ext cx="2695500" cy="1797300"/>
          </a:xfrm>
          <a:prstGeom prst="roundRect">
            <a:avLst>
              <a:gd fmla="val 13000" name="adj"/>
            </a:avLst>
          </a:prstGeom>
          <a:noFill/>
          <a:ln>
            <a:noFill/>
          </a:ln>
        </p:spPr>
      </p:pic>
      <p:sp>
        <p:nvSpPr>
          <p:cNvPr id="300" name="Google Shape;300;p14"/>
          <p:cNvSpPr txBox="1"/>
          <p:nvPr/>
        </p:nvSpPr>
        <p:spPr>
          <a:xfrm>
            <a:off x="1116900" y="4837425"/>
            <a:ext cx="4104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C4C4C4"/>
                </a:solidFill>
                <a:latin typeface="DM Sans Light"/>
                <a:ea typeface="DM Sans Light"/>
                <a:cs typeface="DM Sans Light"/>
                <a:sym typeface="DM Sans Light"/>
              </a:rPr>
              <a:t>Footer notes here</a:t>
            </a:r>
            <a:endParaRPr b="0" i="0" sz="600" u="none" cap="none" strike="noStrike">
              <a:solidFill>
                <a:srgbClr val="C4C4C4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301" name="Google Shape;301;p14"/>
          <p:cNvSpPr txBox="1"/>
          <p:nvPr/>
        </p:nvSpPr>
        <p:spPr>
          <a:xfrm>
            <a:off x="414000" y="187325"/>
            <a:ext cx="5259052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Trends and Innovation</a:t>
            </a:r>
            <a:endParaRPr b="0" i="0" sz="3200" u="none" cap="none" strike="noStrike">
              <a:solidFill>
                <a:srgbClr val="262AFF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15" title="imag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5375" y="2078408"/>
            <a:ext cx="738875" cy="67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5" title="woman-customer-online-shopping-icon-set-vector-44264173.jpg"/>
          <p:cNvPicPr preferRelativeResize="0"/>
          <p:nvPr/>
        </p:nvPicPr>
        <p:blipFill rotWithShape="1">
          <a:blip r:embed="rId4">
            <a:alphaModFix/>
          </a:blip>
          <a:srcRect b="14150" l="0" r="0" t="-14150"/>
          <a:stretch/>
        </p:blipFill>
        <p:spPr>
          <a:xfrm>
            <a:off x="599850" y="1569883"/>
            <a:ext cx="1180200" cy="1274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8" name="Google Shape;308;p15"/>
          <p:cNvCxnSpPr/>
          <p:nvPr/>
        </p:nvCxnSpPr>
        <p:spPr>
          <a:xfrm>
            <a:off x="1752600" y="23447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9" name="Google Shape;309;p15"/>
          <p:cNvCxnSpPr/>
          <p:nvPr/>
        </p:nvCxnSpPr>
        <p:spPr>
          <a:xfrm>
            <a:off x="3505200" y="23447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0" name="Google Shape;310;p15"/>
          <p:cNvCxnSpPr/>
          <p:nvPr/>
        </p:nvCxnSpPr>
        <p:spPr>
          <a:xfrm>
            <a:off x="5486400" y="23447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1" name="Google Shape;311;p15"/>
          <p:cNvCxnSpPr/>
          <p:nvPr/>
        </p:nvCxnSpPr>
        <p:spPr>
          <a:xfrm flipH="1">
            <a:off x="5181600" y="44021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2" name="Google Shape;312;p15"/>
          <p:cNvCxnSpPr/>
          <p:nvPr/>
        </p:nvCxnSpPr>
        <p:spPr>
          <a:xfrm>
            <a:off x="7121582" y="3033762"/>
            <a:ext cx="1500" cy="7953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3" name="Google Shape;313;p15"/>
          <p:cNvCxnSpPr/>
          <p:nvPr/>
        </p:nvCxnSpPr>
        <p:spPr>
          <a:xfrm>
            <a:off x="5257800" y="40973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4" name="Google Shape;314;p15"/>
          <p:cNvCxnSpPr/>
          <p:nvPr/>
        </p:nvCxnSpPr>
        <p:spPr>
          <a:xfrm flipH="1">
            <a:off x="5486400" y="25733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5" name="Google Shape;315;p15"/>
          <p:cNvCxnSpPr/>
          <p:nvPr/>
        </p:nvCxnSpPr>
        <p:spPr>
          <a:xfrm flipH="1" rot="10800000">
            <a:off x="6734850" y="3033733"/>
            <a:ext cx="8700" cy="7953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6" name="Google Shape;316;p15"/>
          <p:cNvSpPr txBox="1"/>
          <p:nvPr/>
        </p:nvSpPr>
        <p:spPr>
          <a:xfrm>
            <a:off x="817420" y="2763983"/>
            <a:ext cx="849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Customer</a:t>
            </a:r>
            <a:endParaRPr sz="1000"/>
          </a:p>
        </p:txBody>
      </p:sp>
      <p:sp>
        <p:nvSpPr>
          <p:cNvPr id="317" name="Google Shape;317;p15"/>
          <p:cNvSpPr txBox="1"/>
          <p:nvPr/>
        </p:nvSpPr>
        <p:spPr>
          <a:xfrm>
            <a:off x="2708565" y="2770910"/>
            <a:ext cx="82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Merchant</a:t>
            </a:r>
            <a:endParaRPr sz="1000"/>
          </a:p>
        </p:txBody>
      </p:sp>
      <p:grpSp>
        <p:nvGrpSpPr>
          <p:cNvPr id="318" name="Google Shape;318;p15"/>
          <p:cNvGrpSpPr/>
          <p:nvPr/>
        </p:nvGrpSpPr>
        <p:grpSpPr>
          <a:xfrm>
            <a:off x="4554512" y="1952745"/>
            <a:ext cx="847013" cy="1211437"/>
            <a:chOff x="4554512" y="1724145"/>
            <a:chExt cx="847013" cy="1211437"/>
          </a:xfrm>
        </p:grpSpPr>
        <p:pic>
          <p:nvPicPr>
            <p:cNvPr id="319" name="Google Shape;319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54512" y="1724145"/>
              <a:ext cx="847013" cy="847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0" name="Google Shape;320;p15"/>
            <p:cNvSpPr txBox="1"/>
            <p:nvPr/>
          </p:nvSpPr>
          <p:spPr>
            <a:xfrm>
              <a:off x="4558147" y="2535382"/>
              <a:ext cx="79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Payment</a:t>
              </a: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0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Gateway</a:t>
              </a:r>
              <a:endParaRPr sz="1000"/>
            </a:p>
          </p:txBody>
        </p:sp>
      </p:grpSp>
      <p:grpSp>
        <p:nvGrpSpPr>
          <p:cNvPr id="321" name="Google Shape;321;p15"/>
          <p:cNvGrpSpPr/>
          <p:nvPr/>
        </p:nvGrpSpPr>
        <p:grpSpPr>
          <a:xfrm>
            <a:off x="6492425" y="2018769"/>
            <a:ext cx="801900" cy="1040574"/>
            <a:chOff x="6492425" y="1790169"/>
            <a:chExt cx="801900" cy="1040574"/>
          </a:xfrm>
        </p:grpSpPr>
        <p:pic>
          <p:nvPicPr>
            <p:cNvPr id="322" name="Google Shape;322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492425" y="1790169"/>
              <a:ext cx="801900" cy="7952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15"/>
            <p:cNvSpPr txBox="1"/>
            <p:nvPr/>
          </p:nvSpPr>
          <p:spPr>
            <a:xfrm>
              <a:off x="6512953" y="2584443"/>
              <a:ext cx="755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Acquirer</a:t>
              </a:r>
              <a:endParaRPr sz="1000"/>
            </a:p>
          </p:txBody>
        </p:sp>
      </p:grpSp>
      <p:grpSp>
        <p:nvGrpSpPr>
          <p:cNvPr id="324" name="Google Shape;324;p15"/>
          <p:cNvGrpSpPr/>
          <p:nvPr/>
        </p:nvGrpSpPr>
        <p:grpSpPr>
          <a:xfrm>
            <a:off x="6360999" y="3838776"/>
            <a:ext cx="1041297" cy="975924"/>
            <a:chOff x="6360999" y="3610176"/>
            <a:chExt cx="1041297" cy="975924"/>
          </a:xfrm>
        </p:grpSpPr>
        <p:pic>
          <p:nvPicPr>
            <p:cNvPr id="325" name="Google Shape;325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360999" y="3610176"/>
              <a:ext cx="1041297" cy="750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15"/>
            <p:cNvSpPr txBox="1"/>
            <p:nvPr/>
          </p:nvSpPr>
          <p:spPr>
            <a:xfrm>
              <a:off x="6451700" y="4339800"/>
              <a:ext cx="846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Schemes</a:t>
              </a:r>
              <a:endParaRPr sz="1000"/>
            </a:p>
          </p:txBody>
        </p:sp>
      </p:grpSp>
      <p:grpSp>
        <p:nvGrpSpPr>
          <p:cNvPr id="327" name="Google Shape;327;p15"/>
          <p:cNvGrpSpPr/>
          <p:nvPr/>
        </p:nvGrpSpPr>
        <p:grpSpPr>
          <a:xfrm>
            <a:off x="4140450" y="3623987"/>
            <a:ext cx="961899" cy="1187387"/>
            <a:chOff x="4140450" y="3395387"/>
            <a:chExt cx="961899" cy="1187387"/>
          </a:xfrm>
        </p:grpSpPr>
        <p:pic>
          <p:nvPicPr>
            <p:cNvPr id="328" name="Google Shape;328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140450" y="3395387"/>
              <a:ext cx="961899" cy="953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15"/>
            <p:cNvSpPr txBox="1"/>
            <p:nvPr/>
          </p:nvSpPr>
          <p:spPr>
            <a:xfrm>
              <a:off x="4225635" y="4336474"/>
              <a:ext cx="5631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Issuer</a:t>
              </a:r>
              <a:endParaRPr sz="1000"/>
            </a:p>
          </p:txBody>
        </p:sp>
      </p:grpSp>
      <p:grpSp>
        <p:nvGrpSpPr>
          <p:cNvPr id="330" name="Google Shape;330;p15"/>
          <p:cNvGrpSpPr/>
          <p:nvPr/>
        </p:nvGrpSpPr>
        <p:grpSpPr>
          <a:xfrm>
            <a:off x="4138473" y="586510"/>
            <a:ext cx="1827600" cy="1073582"/>
            <a:chOff x="4138473" y="357910"/>
            <a:chExt cx="1827600" cy="1073582"/>
          </a:xfrm>
        </p:grpSpPr>
        <p:pic>
          <p:nvPicPr>
            <p:cNvPr descr="A blue and white logo with a blue and yellow lock&#10;&#10;AI-generated content may be incorrect." id="331" name="Google Shape;331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485300" y="357910"/>
              <a:ext cx="897689" cy="8976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2" name="Google Shape;332;p15"/>
            <p:cNvSpPr txBox="1"/>
            <p:nvPr/>
          </p:nvSpPr>
          <p:spPr>
            <a:xfrm>
              <a:off x="4138473" y="1185192"/>
              <a:ext cx="182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Card Storage</a:t>
              </a: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 Service</a:t>
              </a:r>
              <a:endParaRPr sz="1000"/>
            </a:p>
          </p:txBody>
        </p:sp>
      </p:grpSp>
      <p:cxnSp>
        <p:nvCxnSpPr>
          <p:cNvPr id="333" name="Google Shape;333;p15"/>
          <p:cNvCxnSpPr/>
          <p:nvPr/>
        </p:nvCxnSpPr>
        <p:spPr>
          <a:xfrm rot="10800000">
            <a:off x="4978018" y="1683721"/>
            <a:ext cx="0" cy="264600"/>
          </a:xfrm>
          <a:prstGeom prst="straightConnector1">
            <a:avLst/>
          </a:prstGeom>
          <a:noFill/>
          <a:ln cap="flat" cmpd="sng" w="25400">
            <a:solidFill>
              <a:srgbClr val="92D05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34" name="Google Shape;334;p15"/>
          <p:cNvCxnSpPr/>
          <p:nvPr/>
        </p:nvCxnSpPr>
        <p:spPr>
          <a:xfrm>
            <a:off x="4788610" y="1683731"/>
            <a:ext cx="0" cy="3435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35" name="Google Shape;335;p15"/>
          <p:cNvCxnSpPr/>
          <p:nvPr/>
        </p:nvCxnSpPr>
        <p:spPr>
          <a:xfrm flipH="1">
            <a:off x="3494400" y="2566026"/>
            <a:ext cx="990900" cy="75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336" name="Google Shape;336;p15"/>
          <p:cNvCxnSpPr/>
          <p:nvPr/>
        </p:nvCxnSpPr>
        <p:spPr>
          <a:xfrm flipH="1">
            <a:off x="1679451" y="2566029"/>
            <a:ext cx="990900" cy="75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337" name="Google Shape;337;p15"/>
          <p:cNvSpPr txBox="1"/>
          <p:nvPr/>
        </p:nvSpPr>
        <p:spPr>
          <a:xfrm>
            <a:off x="414000" y="187325"/>
            <a:ext cx="5259052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COF – 1</a:t>
            </a:r>
            <a:r>
              <a:rPr b="0" baseline="30000" i="0" lang="en-US" sz="3200" u="none" cap="none" strike="noStrike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st</a:t>
            </a:r>
            <a:r>
              <a:rPr b="0" i="0" lang="en-US" sz="3200" u="none" cap="none" strike="noStrike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 Transaction</a:t>
            </a:r>
            <a:endParaRPr b="0" i="0" sz="3200" u="none" cap="none" strike="noStrike">
              <a:solidFill>
                <a:srgbClr val="262AFF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338" name="Google Shape;338;p15"/>
          <p:cNvSpPr txBox="1"/>
          <p:nvPr/>
        </p:nvSpPr>
        <p:spPr>
          <a:xfrm>
            <a:off x="1739400" y="20622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1. 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Card Details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9" name="Google Shape;339;p15"/>
          <p:cNvSpPr txBox="1"/>
          <p:nvPr/>
        </p:nvSpPr>
        <p:spPr>
          <a:xfrm>
            <a:off x="3492000" y="20622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Card Details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0" name="Google Shape;340;p15"/>
          <p:cNvSpPr txBox="1"/>
          <p:nvPr/>
        </p:nvSpPr>
        <p:spPr>
          <a:xfrm>
            <a:off x="5397000" y="20622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Card Details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1" name="Google Shape;341;p15"/>
          <p:cNvSpPr txBox="1"/>
          <p:nvPr/>
        </p:nvSpPr>
        <p:spPr>
          <a:xfrm>
            <a:off x="5320800" y="43482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Card Details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2" name="Google Shape;342;p15"/>
          <p:cNvSpPr txBox="1"/>
          <p:nvPr/>
        </p:nvSpPr>
        <p:spPr>
          <a:xfrm rot="-5400000">
            <a:off x="6768600" y="31290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4.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Card Details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3" name="Google Shape;343;p15"/>
          <p:cNvSpPr txBox="1"/>
          <p:nvPr/>
        </p:nvSpPr>
        <p:spPr>
          <a:xfrm>
            <a:off x="5016000" y="16812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9.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Card Details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4" name="Google Shape;344;p15"/>
          <p:cNvSpPr txBox="1"/>
          <p:nvPr/>
        </p:nvSpPr>
        <p:spPr>
          <a:xfrm>
            <a:off x="3720600" y="25194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11.Token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5" name="Google Shape;345;p15"/>
          <p:cNvSpPr txBox="1"/>
          <p:nvPr/>
        </p:nvSpPr>
        <p:spPr>
          <a:xfrm>
            <a:off x="1891800" y="25194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12.Token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6" name="Google Shape;346;p15"/>
          <p:cNvSpPr txBox="1"/>
          <p:nvPr/>
        </p:nvSpPr>
        <p:spPr>
          <a:xfrm>
            <a:off x="4025400" y="16812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10.Token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7" name="Google Shape;347;p15"/>
          <p:cNvSpPr txBox="1"/>
          <p:nvPr/>
        </p:nvSpPr>
        <p:spPr>
          <a:xfrm>
            <a:off x="5168400" y="38148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6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Success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8" name="Google Shape;348;p15"/>
          <p:cNvSpPr txBox="1"/>
          <p:nvPr/>
        </p:nvSpPr>
        <p:spPr>
          <a:xfrm rot="5400000">
            <a:off x="5930400" y="33576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7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Success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9" name="Google Shape;349;p15"/>
          <p:cNvSpPr txBox="1"/>
          <p:nvPr/>
        </p:nvSpPr>
        <p:spPr>
          <a:xfrm>
            <a:off x="5625600" y="25194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8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Success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16" title="imag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5375" y="2078408"/>
            <a:ext cx="738875" cy="67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16" title="woman-customer-online-shopping-icon-set-vector-44264173.jpg"/>
          <p:cNvPicPr preferRelativeResize="0"/>
          <p:nvPr/>
        </p:nvPicPr>
        <p:blipFill rotWithShape="1">
          <a:blip r:embed="rId4">
            <a:alphaModFix/>
          </a:blip>
          <a:srcRect b="14150" l="0" r="0" t="-14150"/>
          <a:stretch/>
        </p:blipFill>
        <p:spPr>
          <a:xfrm>
            <a:off x="599850" y="1569883"/>
            <a:ext cx="1180200" cy="1274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6" name="Google Shape;356;p16"/>
          <p:cNvCxnSpPr/>
          <p:nvPr/>
        </p:nvCxnSpPr>
        <p:spPr>
          <a:xfrm>
            <a:off x="1752600" y="23447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7" name="Google Shape;357;p16"/>
          <p:cNvCxnSpPr/>
          <p:nvPr/>
        </p:nvCxnSpPr>
        <p:spPr>
          <a:xfrm>
            <a:off x="3505200" y="23447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8" name="Google Shape;358;p16"/>
          <p:cNvCxnSpPr/>
          <p:nvPr/>
        </p:nvCxnSpPr>
        <p:spPr>
          <a:xfrm>
            <a:off x="5486400" y="23447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9" name="Google Shape;359;p16"/>
          <p:cNvCxnSpPr/>
          <p:nvPr/>
        </p:nvCxnSpPr>
        <p:spPr>
          <a:xfrm flipH="1">
            <a:off x="5181600" y="44021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0" name="Google Shape;360;p16"/>
          <p:cNvCxnSpPr/>
          <p:nvPr/>
        </p:nvCxnSpPr>
        <p:spPr>
          <a:xfrm>
            <a:off x="7121582" y="3033762"/>
            <a:ext cx="1500" cy="7953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1" name="Google Shape;361;p16"/>
          <p:cNvCxnSpPr/>
          <p:nvPr/>
        </p:nvCxnSpPr>
        <p:spPr>
          <a:xfrm>
            <a:off x="5257800" y="40973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2" name="Google Shape;362;p16"/>
          <p:cNvCxnSpPr/>
          <p:nvPr/>
        </p:nvCxnSpPr>
        <p:spPr>
          <a:xfrm flipH="1">
            <a:off x="5486400" y="25733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3" name="Google Shape;363;p16"/>
          <p:cNvCxnSpPr/>
          <p:nvPr/>
        </p:nvCxnSpPr>
        <p:spPr>
          <a:xfrm flipH="1" rot="10800000">
            <a:off x="6734850" y="3033733"/>
            <a:ext cx="8700" cy="7953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4" name="Google Shape;364;p16"/>
          <p:cNvSpPr txBox="1"/>
          <p:nvPr/>
        </p:nvSpPr>
        <p:spPr>
          <a:xfrm>
            <a:off x="817420" y="2763983"/>
            <a:ext cx="849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Customer</a:t>
            </a:r>
            <a:endParaRPr sz="1000"/>
          </a:p>
        </p:txBody>
      </p:sp>
      <p:sp>
        <p:nvSpPr>
          <p:cNvPr id="365" name="Google Shape;365;p16"/>
          <p:cNvSpPr txBox="1"/>
          <p:nvPr/>
        </p:nvSpPr>
        <p:spPr>
          <a:xfrm>
            <a:off x="2708565" y="2770910"/>
            <a:ext cx="82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Merchant</a:t>
            </a:r>
            <a:endParaRPr sz="1000"/>
          </a:p>
        </p:txBody>
      </p:sp>
      <p:grpSp>
        <p:nvGrpSpPr>
          <p:cNvPr id="366" name="Google Shape;366;p16"/>
          <p:cNvGrpSpPr/>
          <p:nvPr/>
        </p:nvGrpSpPr>
        <p:grpSpPr>
          <a:xfrm>
            <a:off x="4554512" y="1952745"/>
            <a:ext cx="847013" cy="1211437"/>
            <a:chOff x="4554512" y="1724145"/>
            <a:chExt cx="847013" cy="1211437"/>
          </a:xfrm>
        </p:grpSpPr>
        <p:pic>
          <p:nvPicPr>
            <p:cNvPr id="367" name="Google Shape;367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54512" y="1724145"/>
              <a:ext cx="847013" cy="847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16"/>
            <p:cNvSpPr txBox="1"/>
            <p:nvPr/>
          </p:nvSpPr>
          <p:spPr>
            <a:xfrm>
              <a:off x="4558147" y="2535382"/>
              <a:ext cx="79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Payment</a:t>
              </a: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0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Gateway</a:t>
              </a:r>
              <a:endParaRPr sz="1000"/>
            </a:p>
          </p:txBody>
        </p:sp>
      </p:grpSp>
      <p:grpSp>
        <p:nvGrpSpPr>
          <p:cNvPr id="369" name="Google Shape;369;p16"/>
          <p:cNvGrpSpPr/>
          <p:nvPr/>
        </p:nvGrpSpPr>
        <p:grpSpPr>
          <a:xfrm>
            <a:off x="6492425" y="2018769"/>
            <a:ext cx="801900" cy="1040574"/>
            <a:chOff x="6492425" y="1790169"/>
            <a:chExt cx="801900" cy="1040574"/>
          </a:xfrm>
        </p:grpSpPr>
        <p:pic>
          <p:nvPicPr>
            <p:cNvPr id="370" name="Google Shape;370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492425" y="1790169"/>
              <a:ext cx="801900" cy="7952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16"/>
            <p:cNvSpPr txBox="1"/>
            <p:nvPr/>
          </p:nvSpPr>
          <p:spPr>
            <a:xfrm>
              <a:off x="6512953" y="2584443"/>
              <a:ext cx="755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Acquirer</a:t>
              </a:r>
              <a:endParaRPr sz="1000"/>
            </a:p>
          </p:txBody>
        </p:sp>
      </p:grpSp>
      <p:grpSp>
        <p:nvGrpSpPr>
          <p:cNvPr id="372" name="Google Shape;372;p16"/>
          <p:cNvGrpSpPr/>
          <p:nvPr/>
        </p:nvGrpSpPr>
        <p:grpSpPr>
          <a:xfrm>
            <a:off x="6360999" y="3838776"/>
            <a:ext cx="1041297" cy="975924"/>
            <a:chOff x="6360999" y="3610176"/>
            <a:chExt cx="1041297" cy="975924"/>
          </a:xfrm>
        </p:grpSpPr>
        <p:pic>
          <p:nvPicPr>
            <p:cNvPr id="373" name="Google Shape;373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360999" y="3610176"/>
              <a:ext cx="1041297" cy="750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4" name="Google Shape;374;p16"/>
            <p:cNvSpPr txBox="1"/>
            <p:nvPr/>
          </p:nvSpPr>
          <p:spPr>
            <a:xfrm>
              <a:off x="6451700" y="4339800"/>
              <a:ext cx="846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Schemes</a:t>
              </a:r>
              <a:endParaRPr sz="1000"/>
            </a:p>
          </p:txBody>
        </p:sp>
      </p:grpSp>
      <p:grpSp>
        <p:nvGrpSpPr>
          <p:cNvPr id="375" name="Google Shape;375;p16"/>
          <p:cNvGrpSpPr/>
          <p:nvPr/>
        </p:nvGrpSpPr>
        <p:grpSpPr>
          <a:xfrm>
            <a:off x="4140450" y="3623987"/>
            <a:ext cx="961899" cy="1187387"/>
            <a:chOff x="4140450" y="3395387"/>
            <a:chExt cx="961899" cy="1187387"/>
          </a:xfrm>
        </p:grpSpPr>
        <p:pic>
          <p:nvPicPr>
            <p:cNvPr id="376" name="Google Shape;376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140450" y="3395387"/>
              <a:ext cx="961899" cy="953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7" name="Google Shape;377;p16"/>
            <p:cNvSpPr txBox="1"/>
            <p:nvPr/>
          </p:nvSpPr>
          <p:spPr>
            <a:xfrm>
              <a:off x="4225635" y="4336474"/>
              <a:ext cx="5631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Issuer</a:t>
              </a:r>
              <a:endParaRPr sz="1000"/>
            </a:p>
          </p:txBody>
        </p:sp>
      </p:grpSp>
      <p:grpSp>
        <p:nvGrpSpPr>
          <p:cNvPr id="378" name="Google Shape;378;p16"/>
          <p:cNvGrpSpPr/>
          <p:nvPr/>
        </p:nvGrpSpPr>
        <p:grpSpPr>
          <a:xfrm>
            <a:off x="4138473" y="586510"/>
            <a:ext cx="1827600" cy="1073582"/>
            <a:chOff x="4138473" y="357910"/>
            <a:chExt cx="1827600" cy="1073582"/>
          </a:xfrm>
        </p:grpSpPr>
        <p:pic>
          <p:nvPicPr>
            <p:cNvPr descr="A blue and white logo with a blue and yellow lock&#10;&#10;AI-generated content may be incorrect." id="379" name="Google Shape;379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485300" y="357910"/>
              <a:ext cx="897690" cy="8976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0" name="Google Shape;380;p16"/>
            <p:cNvSpPr txBox="1"/>
            <p:nvPr/>
          </p:nvSpPr>
          <p:spPr>
            <a:xfrm>
              <a:off x="4138473" y="1185192"/>
              <a:ext cx="182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Card Storage</a:t>
              </a: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 Service</a:t>
              </a:r>
              <a:endParaRPr sz="1000"/>
            </a:p>
          </p:txBody>
        </p:sp>
      </p:grpSp>
      <p:cxnSp>
        <p:nvCxnSpPr>
          <p:cNvPr id="381" name="Google Shape;381;p16"/>
          <p:cNvCxnSpPr/>
          <p:nvPr/>
        </p:nvCxnSpPr>
        <p:spPr>
          <a:xfrm rot="10800000">
            <a:off x="4978018" y="1683721"/>
            <a:ext cx="0" cy="2646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382" name="Google Shape;382;p16"/>
          <p:cNvCxnSpPr/>
          <p:nvPr/>
        </p:nvCxnSpPr>
        <p:spPr>
          <a:xfrm>
            <a:off x="4788610" y="1683731"/>
            <a:ext cx="0" cy="343500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383" name="Google Shape;383;p16"/>
          <p:cNvCxnSpPr/>
          <p:nvPr/>
        </p:nvCxnSpPr>
        <p:spPr>
          <a:xfrm flipH="1">
            <a:off x="3494400" y="2566026"/>
            <a:ext cx="990900" cy="7500"/>
          </a:xfrm>
          <a:prstGeom prst="straightConnector1">
            <a:avLst/>
          </a:prstGeom>
          <a:noFill/>
          <a:ln cap="flat" cmpd="sng" w="25400">
            <a:solidFill>
              <a:srgbClr val="92D05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384" name="Google Shape;384;p16"/>
          <p:cNvCxnSpPr/>
          <p:nvPr/>
        </p:nvCxnSpPr>
        <p:spPr>
          <a:xfrm flipH="1">
            <a:off x="1679451" y="2566029"/>
            <a:ext cx="990900" cy="7500"/>
          </a:xfrm>
          <a:prstGeom prst="straightConnector1">
            <a:avLst/>
          </a:prstGeom>
          <a:noFill/>
          <a:ln cap="flat" cmpd="sng" w="25400">
            <a:solidFill>
              <a:srgbClr val="92D05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385" name="Google Shape;385;p16"/>
          <p:cNvSpPr txBox="1"/>
          <p:nvPr/>
        </p:nvSpPr>
        <p:spPr>
          <a:xfrm>
            <a:off x="1739400" y="20622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1. Token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6" name="Google Shape;386;p16"/>
          <p:cNvSpPr txBox="1"/>
          <p:nvPr/>
        </p:nvSpPr>
        <p:spPr>
          <a:xfrm>
            <a:off x="414000" y="187325"/>
            <a:ext cx="52590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COF – </a:t>
            </a:r>
            <a:r>
              <a:rPr lang="en-US" sz="3200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Next </a:t>
            </a:r>
            <a:r>
              <a:rPr b="0" i="0" lang="en-US" sz="3200" u="none" cap="none" strike="noStrike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Transaction</a:t>
            </a:r>
            <a:endParaRPr b="0" i="0" sz="3200" u="none" cap="none" strike="noStrike">
              <a:solidFill>
                <a:srgbClr val="262AFF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387" name="Google Shape;387;p16"/>
          <p:cNvSpPr txBox="1"/>
          <p:nvPr/>
        </p:nvSpPr>
        <p:spPr>
          <a:xfrm>
            <a:off x="3492000" y="20622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2.Token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8" name="Google Shape;388;p16"/>
          <p:cNvSpPr txBox="1"/>
          <p:nvPr/>
        </p:nvSpPr>
        <p:spPr>
          <a:xfrm>
            <a:off x="5397000" y="20622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.Card Details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9" name="Google Shape;389;p16"/>
          <p:cNvSpPr txBox="1"/>
          <p:nvPr/>
        </p:nvSpPr>
        <p:spPr>
          <a:xfrm>
            <a:off x="5320800" y="43482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7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.Card Details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0" name="Google Shape;390;p16"/>
          <p:cNvSpPr txBox="1"/>
          <p:nvPr/>
        </p:nvSpPr>
        <p:spPr>
          <a:xfrm rot="-5400000">
            <a:off x="6768600" y="31290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6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.Card Details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1" name="Google Shape;391;p16"/>
          <p:cNvSpPr txBox="1"/>
          <p:nvPr/>
        </p:nvSpPr>
        <p:spPr>
          <a:xfrm>
            <a:off x="5016000" y="16812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.Token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2" name="Google Shape;392;p16"/>
          <p:cNvSpPr txBox="1"/>
          <p:nvPr/>
        </p:nvSpPr>
        <p:spPr>
          <a:xfrm>
            <a:off x="3720600" y="25194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11.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Success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3" name="Google Shape;393;p16"/>
          <p:cNvSpPr txBox="1"/>
          <p:nvPr/>
        </p:nvSpPr>
        <p:spPr>
          <a:xfrm>
            <a:off x="1891800" y="25194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12.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Success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4" name="Google Shape;394;p16"/>
          <p:cNvSpPr txBox="1"/>
          <p:nvPr/>
        </p:nvSpPr>
        <p:spPr>
          <a:xfrm>
            <a:off x="3796800" y="16812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4.Card Details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5" name="Google Shape;395;p16"/>
          <p:cNvSpPr txBox="1"/>
          <p:nvPr/>
        </p:nvSpPr>
        <p:spPr>
          <a:xfrm>
            <a:off x="5168400" y="38148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8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Success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6" name="Google Shape;396;p16"/>
          <p:cNvSpPr txBox="1"/>
          <p:nvPr/>
        </p:nvSpPr>
        <p:spPr>
          <a:xfrm rot="5400000">
            <a:off x="5930400" y="33576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9.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Success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7" name="Google Shape;397;p16"/>
          <p:cNvSpPr txBox="1"/>
          <p:nvPr/>
        </p:nvSpPr>
        <p:spPr>
          <a:xfrm>
            <a:off x="5625600" y="25194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Success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17" title="imag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4375" y="2078408"/>
            <a:ext cx="738875" cy="67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7" title="woman-customer-online-shopping-icon-set-vector-44264173.jpg"/>
          <p:cNvPicPr preferRelativeResize="0"/>
          <p:nvPr/>
        </p:nvPicPr>
        <p:blipFill rotWithShape="1">
          <a:blip r:embed="rId4">
            <a:alphaModFix/>
          </a:blip>
          <a:srcRect b="14150" l="0" r="0" t="-14150"/>
          <a:stretch/>
        </p:blipFill>
        <p:spPr>
          <a:xfrm>
            <a:off x="218850" y="1569883"/>
            <a:ext cx="1180200" cy="1274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4" name="Google Shape;404;p17"/>
          <p:cNvCxnSpPr/>
          <p:nvPr/>
        </p:nvCxnSpPr>
        <p:spPr>
          <a:xfrm>
            <a:off x="1371600" y="23447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5" name="Google Shape;405;p17"/>
          <p:cNvCxnSpPr/>
          <p:nvPr/>
        </p:nvCxnSpPr>
        <p:spPr>
          <a:xfrm>
            <a:off x="3124200" y="23447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6" name="Google Shape;406;p17"/>
          <p:cNvCxnSpPr/>
          <p:nvPr/>
        </p:nvCxnSpPr>
        <p:spPr>
          <a:xfrm>
            <a:off x="5105400" y="23447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7" name="Google Shape;407;p17"/>
          <p:cNvCxnSpPr/>
          <p:nvPr/>
        </p:nvCxnSpPr>
        <p:spPr>
          <a:xfrm flipH="1">
            <a:off x="4800600" y="44021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8" name="Google Shape;408;p17"/>
          <p:cNvCxnSpPr/>
          <p:nvPr/>
        </p:nvCxnSpPr>
        <p:spPr>
          <a:xfrm>
            <a:off x="6740582" y="3033762"/>
            <a:ext cx="1500" cy="7953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9" name="Google Shape;409;p17"/>
          <p:cNvCxnSpPr/>
          <p:nvPr/>
        </p:nvCxnSpPr>
        <p:spPr>
          <a:xfrm>
            <a:off x="4876800" y="40973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0" name="Google Shape;410;p17"/>
          <p:cNvCxnSpPr/>
          <p:nvPr/>
        </p:nvCxnSpPr>
        <p:spPr>
          <a:xfrm flipH="1">
            <a:off x="5105400" y="25733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1" name="Google Shape;411;p17"/>
          <p:cNvCxnSpPr/>
          <p:nvPr/>
        </p:nvCxnSpPr>
        <p:spPr>
          <a:xfrm flipH="1" rot="10800000">
            <a:off x="6353850" y="3033733"/>
            <a:ext cx="8700" cy="7953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2" name="Google Shape;412;p17"/>
          <p:cNvSpPr txBox="1"/>
          <p:nvPr/>
        </p:nvSpPr>
        <p:spPr>
          <a:xfrm>
            <a:off x="436420" y="2763983"/>
            <a:ext cx="849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Customer</a:t>
            </a:r>
            <a:endParaRPr sz="1000"/>
          </a:p>
        </p:txBody>
      </p:sp>
      <p:sp>
        <p:nvSpPr>
          <p:cNvPr id="413" name="Google Shape;413;p17"/>
          <p:cNvSpPr txBox="1"/>
          <p:nvPr/>
        </p:nvSpPr>
        <p:spPr>
          <a:xfrm>
            <a:off x="2327565" y="2770910"/>
            <a:ext cx="82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Merchant</a:t>
            </a:r>
            <a:endParaRPr sz="1000"/>
          </a:p>
        </p:txBody>
      </p:sp>
      <p:grpSp>
        <p:nvGrpSpPr>
          <p:cNvPr id="414" name="Google Shape;414;p17"/>
          <p:cNvGrpSpPr/>
          <p:nvPr/>
        </p:nvGrpSpPr>
        <p:grpSpPr>
          <a:xfrm>
            <a:off x="4173512" y="1952745"/>
            <a:ext cx="847013" cy="1211437"/>
            <a:chOff x="4554512" y="1724145"/>
            <a:chExt cx="847013" cy="1211437"/>
          </a:xfrm>
        </p:grpSpPr>
        <p:pic>
          <p:nvPicPr>
            <p:cNvPr id="415" name="Google Shape;415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54512" y="1724145"/>
              <a:ext cx="847013" cy="847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6" name="Google Shape;416;p17"/>
            <p:cNvSpPr txBox="1"/>
            <p:nvPr/>
          </p:nvSpPr>
          <p:spPr>
            <a:xfrm>
              <a:off x="4558147" y="2535382"/>
              <a:ext cx="79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Payment</a:t>
              </a: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0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Gateway</a:t>
              </a:r>
              <a:endParaRPr sz="1000"/>
            </a:p>
          </p:txBody>
        </p:sp>
      </p:grpSp>
      <p:grpSp>
        <p:nvGrpSpPr>
          <p:cNvPr id="417" name="Google Shape;417;p17"/>
          <p:cNvGrpSpPr/>
          <p:nvPr/>
        </p:nvGrpSpPr>
        <p:grpSpPr>
          <a:xfrm>
            <a:off x="6111425" y="2018769"/>
            <a:ext cx="801900" cy="1040574"/>
            <a:chOff x="6492425" y="1790169"/>
            <a:chExt cx="801900" cy="1040574"/>
          </a:xfrm>
        </p:grpSpPr>
        <p:pic>
          <p:nvPicPr>
            <p:cNvPr id="418" name="Google Shape;418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492425" y="1790169"/>
              <a:ext cx="801900" cy="7952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9" name="Google Shape;419;p17"/>
            <p:cNvSpPr txBox="1"/>
            <p:nvPr/>
          </p:nvSpPr>
          <p:spPr>
            <a:xfrm>
              <a:off x="6512953" y="2584443"/>
              <a:ext cx="755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Acquirer</a:t>
              </a:r>
              <a:endParaRPr sz="1000"/>
            </a:p>
          </p:txBody>
        </p:sp>
      </p:grpSp>
      <p:grpSp>
        <p:nvGrpSpPr>
          <p:cNvPr id="420" name="Google Shape;420;p17"/>
          <p:cNvGrpSpPr/>
          <p:nvPr/>
        </p:nvGrpSpPr>
        <p:grpSpPr>
          <a:xfrm>
            <a:off x="5979999" y="3838776"/>
            <a:ext cx="1041297" cy="975924"/>
            <a:chOff x="6360999" y="3610176"/>
            <a:chExt cx="1041297" cy="975924"/>
          </a:xfrm>
        </p:grpSpPr>
        <p:pic>
          <p:nvPicPr>
            <p:cNvPr id="421" name="Google Shape;421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360999" y="3610176"/>
              <a:ext cx="1041297" cy="750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2" name="Google Shape;422;p17"/>
            <p:cNvSpPr txBox="1"/>
            <p:nvPr/>
          </p:nvSpPr>
          <p:spPr>
            <a:xfrm>
              <a:off x="6451700" y="4339800"/>
              <a:ext cx="846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Schemes</a:t>
              </a:r>
              <a:endParaRPr sz="1000"/>
            </a:p>
          </p:txBody>
        </p:sp>
      </p:grpSp>
      <p:grpSp>
        <p:nvGrpSpPr>
          <p:cNvPr id="423" name="Google Shape;423;p17"/>
          <p:cNvGrpSpPr/>
          <p:nvPr/>
        </p:nvGrpSpPr>
        <p:grpSpPr>
          <a:xfrm>
            <a:off x="3759450" y="3623987"/>
            <a:ext cx="961899" cy="1187387"/>
            <a:chOff x="4140450" y="3395387"/>
            <a:chExt cx="961899" cy="1187387"/>
          </a:xfrm>
        </p:grpSpPr>
        <p:pic>
          <p:nvPicPr>
            <p:cNvPr id="424" name="Google Shape;424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140450" y="3395387"/>
              <a:ext cx="961899" cy="953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5" name="Google Shape;425;p17"/>
            <p:cNvSpPr txBox="1"/>
            <p:nvPr/>
          </p:nvSpPr>
          <p:spPr>
            <a:xfrm>
              <a:off x="4225635" y="4336474"/>
              <a:ext cx="5631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Issuer</a:t>
              </a:r>
              <a:endParaRPr sz="1000"/>
            </a:p>
          </p:txBody>
        </p:sp>
      </p:grpSp>
      <p:grpSp>
        <p:nvGrpSpPr>
          <p:cNvPr id="426" name="Google Shape;426;p17"/>
          <p:cNvGrpSpPr/>
          <p:nvPr/>
        </p:nvGrpSpPr>
        <p:grpSpPr>
          <a:xfrm>
            <a:off x="7719873" y="3634510"/>
            <a:ext cx="1827600" cy="1073582"/>
            <a:chOff x="4138473" y="357910"/>
            <a:chExt cx="1827600" cy="1073582"/>
          </a:xfrm>
        </p:grpSpPr>
        <p:pic>
          <p:nvPicPr>
            <p:cNvPr descr="A blue and white logo with a blue and yellow lock&#10;&#10;AI-generated content may be incorrect." id="427" name="Google Shape;427;p1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485300" y="357910"/>
              <a:ext cx="897690" cy="8976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" name="Google Shape;428;p17"/>
            <p:cNvSpPr txBox="1"/>
            <p:nvPr/>
          </p:nvSpPr>
          <p:spPr>
            <a:xfrm>
              <a:off x="4138473" y="1185192"/>
              <a:ext cx="182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Card Storage</a:t>
              </a: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 Service</a:t>
              </a:r>
              <a:endParaRPr sz="1000"/>
            </a:p>
          </p:txBody>
        </p:sp>
      </p:grpSp>
      <p:cxnSp>
        <p:nvCxnSpPr>
          <p:cNvPr id="429" name="Google Shape;429;p17"/>
          <p:cNvCxnSpPr/>
          <p:nvPr/>
        </p:nvCxnSpPr>
        <p:spPr>
          <a:xfrm flipH="1" rot="10800000">
            <a:off x="7097143" y="4143271"/>
            <a:ext cx="940500" cy="138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430" name="Google Shape;430;p17"/>
          <p:cNvCxnSpPr/>
          <p:nvPr/>
        </p:nvCxnSpPr>
        <p:spPr>
          <a:xfrm rot="10800000">
            <a:off x="7142260" y="4441306"/>
            <a:ext cx="858900" cy="2400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431" name="Google Shape;431;p17"/>
          <p:cNvCxnSpPr/>
          <p:nvPr/>
        </p:nvCxnSpPr>
        <p:spPr>
          <a:xfrm flipH="1">
            <a:off x="3113400" y="2566026"/>
            <a:ext cx="990900" cy="7500"/>
          </a:xfrm>
          <a:prstGeom prst="straightConnector1">
            <a:avLst/>
          </a:prstGeom>
          <a:noFill/>
          <a:ln cap="flat" cmpd="sng" w="25400">
            <a:solidFill>
              <a:srgbClr val="92D05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432" name="Google Shape;432;p17"/>
          <p:cNvCxnSpPr/>
          <p:nvPr/>
        </p:nvCxnSpPr>
        <p:spPr>
          <a:xfrm flipH="1">
            <a:off x="1298451" y="2566029"/>
            <a:ext cx="990900" cy="7500"/>
          </a:xfrm>
          <a:prstGeom prst="straightConnector1">
            <a:avLst/>
          </a:prstGeom>
          <a:noFill/>
          <a:ln cap="flat" cmpd="sng" w="25400">
            <a:solidFill>
              <a:srgbClr val="92D05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433" name="Google Shape;433;p17"/>
          <p:cNvSpPr txBox="1"/>
          <p:nvPr/>
        </p:nvSpPr>
        <p:spPr>
          <a:xfrm>
            <a:off x="1358400" y="20622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1. Token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4" name="Google Shape;434;p17"/>
          <p:cNvSpPr txBox="1"/>
          <p:nvPr/>
        </p:nvSpPr>
        <p:spPr>
          <a:xfrm>
            <a:off x="414000" y="187325"/>
            <a:ext cx="52590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Network Tokenization</a:t>
            </a:r>
            <a:endParaRPr b="0" i="0" sz="3200" u="none" cap="none" strike="noStrike">
              <a:solidFill>
                <a:srgbClr val="262AFF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435" name="Google Shape;435;p17"/>
          <p:cNvSpPr txBox="1"/>
          <p:nvPr/>
        </p:nvSpPr>
        <p:spPr>
          <a:xfrm>
            <a:off x="3111000" y="20622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2.Token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6" name="Google Shape;436;p17"/>
          <p:cNvSpPr txBox="1"/>
          <p:nvPr/>
        </p:nvSpPr>
        <p:spPr>
          <a:xfrm>
            <a:off x="5168400" y="20622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3. Token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7" name="Google Shape;437;p17"/>
          <p:cNvSpPr txBox="1"/>
          <p:nvPr/>
        </p:nvSpPr>
        <p:spPr>
          <a:xfrm>
            <a:off x="4939800" y="43482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7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.Card Details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8" name="Google Shape;438;p17"/>
          <p:cNvSpPr txBox="1"/>
          <p:nvPr/>
        </p:nvSpPr>
        <p:spPr>
          <a:xfrm rot="-5400000">
            <a:off x="6311400" y="29766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4 Token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9" name="Google Shape;439;p17"/>
          <p:cNvSpPr txBox="1"/>
          <p:nvPr/>
        </p:nvSpPr>
        <p:spPr>
          <a:xfrm>
            <a:off x="7051075" y="3838775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.Token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0" name="Google Shape;440;p17"/>
          <p:cNvSpPr txBox="1"/>
          <p:nvPr/>
        </p:nvSpPr>
        <p:spPr>
          <a:xfrm>
            <a:off x="3111000" y="2595600"/>
            <a:ext cx="109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11.Success with Token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1" name="Google Shape;441;p17"/>
          <p:cNvSpPr txBox="1"/>
          <p:nvPr/>
        </p:nvSpPr>
        <p:spPr>
          <a:xfrm>
            <a:off x="1510800" y="25194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12.Success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2" name="Google Shape;442;p17"/>
          <p:cNvSpPr txBox="1"/>
          <p:nvPr/>
        </p:nvSpPr>
        <p:spPr>
          <a:xfrm>
            <a:off x="4787400" y="36624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8 Success card 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3" name="Google Shape;443;p17"/>
          <p:cNvSpPr txBox="1"/>
          <p:nvPr/>
        </p:nvSpPr>
        <p:spPr>
          <a:xfrm rot="5400000">
            <a:off x="5472450" y="3280650"/>
            <a:ext cx="109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9.Success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with Token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4" name="Google Shape;444;p17"/>
          <p:cNvSpPr txBox="1"/>
          <p:nvPr/>
        </p:nvSpPr>
        <p:spPr>
          <a:xfrm>
            <a:off x="5244600" y="2519400"/>
            <a:ext cx="109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10. Success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with Token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5" name="Google Shape;445;p17"/>
          <p:cNvSpPr txBox="1"/>
          <p:nvPr/>
        </p:nvSpPr>
        <p:spPr>
          <a:xfrm>
            <a:off x="6921000" y="43482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6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.Card Details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18" title="imag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4375" y="2078408"/>
            <a:ext cx="738875" cy="67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18" title="woman-customer-online-shopping-icon-set-vector-44264173.jpg"/>
          <p:cNvPicPr preferRelativeResize="0"/>
          <p:nvPr/>
        </p:nvPicPr>
        <p:blipFill rotWithShape="1">
          <a:blip r:embed="rId4">
            <a:alphaModFix/>
          </a:blip>
          <a:srcRect b="14150" l="0" r="0" t="-14150"/>
          <a:stretch/>
        </p:blipFill>
        <p:spPr>
          <a:xfrm>
            <a:off x="218850" y="1569883"/>
            <a:ext cx="1180200" cy="1274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2" name="Google Shape;452;p18"/>
          <p:cNvCxnSpPr/>
          <p:nvPr/>
        </p:nvCxnSpPr>
        <p:spPr>
          <a:xfrm>
            <a:off x="1371600" y="23447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3" name="Google Shape;453;p18"/>
          <p:cNvCxnSpPr/>
          <p:nvPr/>
        </p:nvCxnSpPr>
        <p:spPr>
          <a:xfrm>
            <a:off x="3124200" y="23447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4" name="Google Shape;454;p18"/>
          <p:cNvCxnSpPr/>
          <p:nvPr/>
        </p:nvCxnSpPr>
        <p:spPr>
          <a:xfrm>
            <a:off x="5105400" y="23447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5" name="Google Shape;455;p18"/>
          <p:cNvCxnSpPr/>
          <p:nvPr/>
        </p:nvCxnSpPr>
        <p:spPr>
          <a:xfrm flipH="1">
            <a:off x="4800600" y="44021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6" name="Google Shape;456;p18"/>
          <p:cNvCxnSpPr/>
          <p:nvPr/>
        </p:nvCxnSpPr>
        <p:spPr>
          <a:xfrm>
            <a:off x="6740582" y="3033762"/>
            <a:ext cx="1500" cy="7953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7" name="Google Shape;457;p18"/>
          <p:cNvCxnSpPr/>
          <p:nvPr/>
        </p:nvCxnSpPr>
        <p:spPr>
          <a:xfrm>
            <a:off x="4876800" y="40973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8" name="Google Shape;458;p18"/>
          <p:cNvCxnSpPr/>
          <p:nvPr/>
        </p:nvCxnSpPr>
        <p:spPr>
          <a:xfrm flipH="1">
            <a:off x="5105400" y="25733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9" name="Google Shape;459;p18"/>
          <p:cNvCxnSpPr/>
          <p:nvPr/>
        </p:nvCxnSpPr>
        <p:spPr>
          <a:xfrm flipH="1" rot="10800000">
            <a:off x="6353850" y="3033733"/>
            <a:ext cx="8700" cy="7953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0" name="Google Shape;460;p18"/>
          <p:cNvSpPr txBox="1"/>
          <p:nvPr/>
        </p:nvSpPr>
        <p:spPr>
          <a:xfrm>
            <a:off x="436420" y="2763983"/>
            <a:ext cx="849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Customer</a:t>
            </a:r>
            <a:endParaRPr sz="1000"/>
          </a:p>
        </p:txBody>
      </p:sp>
      <p:sp>
        <p:nvSpPr>
          <p:cNvPr id="461" name="Google Shape;461;p18"/>
          <p:cNvSpPr txBox="1"/>
          <p:nvPr/>
        </p:nvSpPr>
        <p:spPr>
          <a:xfrm>
            <a:off x="2327565" y="2770910"/>
            <a:ext cx="82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Merchant</a:t>
            </a:r>
            <a:endParaRPr sz="1000"/>
          </a:p>
        </p:txBody>
      </p:sp>
      <p:grpSp>
        <p:nvGrpSpPr>
          <p:cNvPr id="462" name="Google Shape;462;p18"/>
          <p:cNvGrpSpPr/>
          <p:nvPr/>
        </p:nvGrpSpPr>
        <p:grpSpPr>
          <a:xfrm>
            <a:off x="4173512" y="1952745"/>
            <a:ext cx="847013" cy="1211437"/>
            <a:chOff x="4554512" y="1724145"/>
            <a:chExt cx="847013" cy="1211437"/>
          </a:xfrm>
        </p:grpSpPr>
        <p:pic>
          <p:nvPicPr>
            <p:cNvPr id="463" name="Google Shape;463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54512" y="1724145"/>
              <a:ext cx="847013" cy="847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4" name="Google Shape;464;p18"/>
            <p:cNvSpPr txBox="1"/>
            <p:nvPr/>
          </p:nvSpPr>
          <p:spPr>
            <a:xfrm>
              <a:off x="4558147" y="2535382"/>
              <a:ext cx="79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Payment</a:t>
              </a: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0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Gateway</a:t>
              </a:r>
              <a:endParaRPr sz="1000"/>
            </a:p>
          </p:txBody>
        </p:sp>
      </p:grpSp>
      <p:grpSp>
        <p:nvGrpSpPr>
          <p:cNvPr id="465" name="Google Shape;465;p18"/>
          <p:cNvGrpSpPr/>
          <p:nvPr/>
        </p:nvGrpSpPr>
        <p:grpSpPr>
          <a:xfrm>
            <a:off x="6111425" y="2018769"/>
            <a:ext cx="801900" cy="1040574"/>
            <a:chOff x="6492425" y="1790169"/>
            <a:chExt cx="801900" cy="1040574"/>
          </a:xfrm>
        </p:grpSpPr>
        <p:pic>
          <p:nvPicPr>
            <p:cNvPr id="466" name="Google Shape;466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492425" y="1790169"/>
              <a:ext cx="801900" cy="7952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7" name="Google Shape;467;p18"/>
            <p:cNvSpPr txBox="1"/>
            <p:nvPr/>
          </p:nvSpPr>
          <p:spPr>
            <a:xfrm>
              <a:off x="6512953" y="2584443"/>
              <a:ext cx="755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Acquirer</a:t>
              </a:r>
              <a:endParaRPr sz="1000"/>
            </a:p>
          </p:txBody>
        </p:sp>
      </p:grpSp>
      <p:grpSp>
        <p:nvGrpSpPr>
          <p:cNvPr id="468" name="Google Shape;468;p18"/>
          <p:cNvGrpSpPr/>
          <p:nvPr/>
        </p:nvGrpSpPr>
        <p:grpSpPr>
          <a:xfrm>
            <a:off x="5979999" y="3838776"/>
            <a:ext cx="1041297" cy="975924"/>
            <a:chOff x="6360999" y="3610176"/>
            <a:chExt cx="1041297" cy="975924"/>
          </a:xfrm>
        </p:grpSpPr>
        <p:pic>
          <p:nvPicPr>
            <p:cNvPr id="469" name="Google Shape;469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360999" y="3610176"/>
              <a:ext cx="1041297" cy="750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0" name="Google Shape;470;p18"/>
            <p:cNvSpPr txBox="1"/>
            <p:nvPr/>
          </p:nvSpPr>
          <p:spPr>
            <a:xfrm>
              <a:off x="6451700" y="4339800"/>
              <a:ext cx="846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Schemes</a:t>
              </a:r>
              <a:endParaRPr sz="1000"/>
            </a:p>
          </p:txBody>
        </p:sp>
      </p:grpSp>
      <p:grpSp>
        <p:nvGrpSpPr>
          <p:cNvPr id="471" name="Google Shape;471;p18"/>
          <p:cNvGrpSpPr/>
          <p:nvPr/>
        </p:nvGrpSpPr>
        <p:grpSpPr>
          <a:xfrm>
            <a:off x="3759450" y="3623987"/>
            <a:ext cx="961899" cy="1187387"/>
            <a:chOff x="4140450" y="3395387"/>
            <a:chExt cx="961899" cy="1187387"/>
          </a:xfrm>
        </p:grpSpPr>
        <p:pic>
          <p:nvPicPr>
            <p:cNvPr id="472" name="Google Shape;472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140450" y="3395387"/>
              <a:ext cx="961899" cy="953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3" name="Google Shape;473;p18"/>
            <p:cNvSpPr txBox="1"/>
            <p:nvPr/>
          </p:nvSpPr>
          <p:spPr>
            <a:xfrm>
              <a:off x="4225635" y="4336474"/>
              <a:ext cx="5631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Issuer</a:t>
              </a:r>
              <a:endParaRPr sz="1000"/>
            </a:p>
          </p:txBody>
        </p:sp>
      </p:grpSp>
      <p:grpSp>
        <p:nvGrpSpPr>
          <p:cNvPr id="474" name="Google Shape;474;p18"/>
          <p:cNvGrpSpPr/>
          <p:nvPr/>
        </p:nvGrpSpPr>
        <p:grpSpPr>
          <a:xfrm>
            <a:off x="7719873" y="1958110"/>
            <a:ext cx="1827600" cy="1073582"/>
            <a:chOff x="4138473" y="357910"/>
            <a:chExt cx="1827600" cy="1073582"/>
          </a:xfrm>
        </p:grpSpPr>
        <p:pic>
          <p:nvPicPr>
            <p:cNvPr descr="A blue and white logo with a blue and yellow lock&#10;&#10;AI-generated content may be incorrect." id="475" name="Google Shape;475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485300" y="357910"/>
              <a:ext cx="897690" cy="8976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6" name="Google Shape;476;p18"/>
            <p:cNvSpPr txBox="1"/>
            <p:nvPr/>
          </p:nvSpPr>
          <p:spPr>
            <a:xfrm>
              <a:off x="4138473" y="1185192"/>
              <a:ext cx="182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Card Storage</a:t>
              </a: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 Service</a:t>
              </a:r>
              <a:endParaRPr sz="1000"/>
            </a:p>
          </p:txBody>
        </p:sp>
      </p:grpSp>
      <p:cxnSp>
        <p:nvCxnSpPr>
          <p:cNvPr id="477" name="Google Shape;477;p18"/>
          <p:cNvCxnSpPr/>
          <p:nvPr/>
        </p:nvCxnSpPr>
        <p:spPr>
          <a:xfrm flipH="1" rot="10800000">
            <a:off x="6944743" y="2390671"/>
            <a:ext cx="940500" cy="138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478" name="Google Shape;478;p18"/>
          <p:cNvCxnSpPr/>
          <p:nvPr/>
        </p:nvCxnSpPr>
        <p:spPr>
          <a:xfrm rot="10800000">
            <a:off x="6989860" y="2612506"/>
            <a:ext cx="858900" cy="2400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479" name="Google Shape;479;p18"/>
          <p:cNvCxnSpPr/>
          <p:nvPr/>
        </p:nvCxnSpPr>
        <p:spPr>
          <a:xfrm flipH="1">
            <a:off x="3113400" y="2566026"/>
            <a:ext cx="990900" cy="7500"/>
          </a:xfrm>
          <a:prstGeom prst="straightConnector1">
            <a:avLst/>
          </a:prstGeom>
          <a:noFill/>
          <a:ln cap="flat" cmpd="sng" w="25400">
            <a:solidFill>
              <a:srgbClr val="92D05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480" name="Google Shape;480;p18"/>
          <p:cNvCxnSpPr/>
          <p:nvPr/>
        </p:nvCxnSpPr>
        <p:spPr>
          <a:xfrm flipH="1">
            <a:off x="1298451" y="2566029"/>
            <a:ext cx="990900" cy="7500"/>
          </a:xfrm>
          <a:prstGeom prst="straightConnector1">
            <a:avLst/>
          </a:prstGeom>
          <a:noFill/>
          <a:ln cap="flat" cmpd="sng" w="25400">
            <a:solidFill>
              <a:srgbClr val="92D05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481" name="Google Shape;481;p18"/>
          <p:cNvSpPr txBox="1"/>
          <p:nvPr/>
        </p:nvSpPr>
        <p:spPr>
          <a:xfrm>
            <a:off x="1358400" y="20622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1. Token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2" name="Google Shape;482;p18"/>
          <p:cNvSpPr txBox="1"/>
          <p:nvPr/>
        </p:nvSpPr>
        <p:spPr>
          <a:xfrm>
            <a:off x="414000" y="187325"/>
            <a:ext cx="52590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PCI </a:t>
            </a:r>
            <a:r>
              <a:rPr lang="en-US" sz="3200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Tokenization</a:t>
            </a:r>
            <a:endParaRPr b="0" i="0" sz="3200" u="none" cap="none" strike="noStrike">
              <a:solidFill>
                <a:srgbClr val="262AFF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483" name="Google Shape;483;p18"/>
          <p:cNvSpPr txBox="1"/>
          <p:nvPr/>
        </p:nvSpPr>
        <p:spPr>
          <a:xfrm>
            <a:off x="3111000" y="20622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2.Token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4" name="Google Shape;484;p18"/>
          <p:cNvSpPr txBox="1"/>
          <p:nvPr/>
        </p:nvSpPr>
        <p:spPr>
          <a:xfrm>
            <a:off x="5168400" y="20622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3. Token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5" name="Google Shape;485;p18"/>
          <p:cNvSpPr txBox="1"/>
          <p:nvPr/>
        </p:nvSpPr>
        <p:spPr>
          <a:xfrm>
            <a:off x="4939800" y="43482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7.Card Details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6" name="Google Shape;486;p18"/>
          <p:cNvSpPr txBox="1"/>
          <p:nvPr/>
        </p:nvSpPr>
        <p:spPr>
          <a:xfrm rot="-5400000">
            <a:off x="6311400" y="31290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6.Card details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7" name="Google Shape;487;p18"/>
          <p:cNvSpPr txBox="1"/>
          <p:nvPr/>
        </p:nvSpPr>
        <p:spPr>
          <a:xfrm>
            <a:off x="7051075" y="2086175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.Token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8" name="Google Shape;488;p18"/>
          <p:cNvSpPr txBox="1"/>
          <p:nvPr/>
        </p:nvSpPr>
        <p:spPr>
          <a:xfrm>
            <a:off x="3111000" y="2595600"/>
            <a:ext cx="109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11.Success with Token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9" name="Google Shape;489;p18"/>
          <p:cNvSpPr txBox="1"/>
          <p:nvPr/>
        </p:nvSpPr>
        <p:spPr>
          <a:xfrm>
            <a:off x="1510800" y="25194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12.Success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0" name="Google Shape;490;p18"/>
          <p:cNvSpPr txBox="1"/>
          <p:nvPr/>
        </p:nvSpPr>
        <p:spPr>
          <a:xfrm>
            <a:off x="4787400" y="36624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8 Success card 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1" name="Google Shape;491;p18"/>
          <p:cNvSpPr txBox="1"/>
          <p:nvPr/>
        </p:nvSpPr>
        <p:spPr>
          <a:xfrm rot="5400000">
            <a:off x="5472450" y="3280650"/>
            <a:ext cx="109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9.Success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card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2" name="Google Shape;492;p18"/>
          <p:cNvSpPr txBox="1"/>
          <p:nvPr/>
        </p:nvSpPr>
        <p:spPr>
          <a:xfrm>
            <a:off x="5244600" y="2519400"/>
            <a:ext cx="109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10. Success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with Token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3" name="Google Shape;493;p18"/>
          <p:cNvSpPr txBox="1"/>
          <p:nvPr/>
        </p:nvSpPr>
        <p:spPr>
          <a:xfrm>
            <a:off x="6921000" y="2595600"/>
            <a:ext cx="109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.Card Details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9200"/>
            <a:ext cx="8839200" cy="2793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20" title="imag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5375" y="2078408"/>
            <a:ext cx="738875" cy="67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20" title="woman-customer-online-shopping-icon-set-vector-44264173.jpg"/>
          <p:cNvPicPr preferRelativeResize="0"/>
          <p:nvPr/>
        </p:nvPicPr>
        <p:blipFill rotWithShape="1">
          <a:blip r:embed="rId4">
            <a:alphaModFix/>
          </a:blip>
          <a:srcRect b="14150" l="0" r="0" t="-14150"/>
          <a:stretch/>
        </p:blipFill>
        <p:spPr>
          <a:xfrm>
            <a:off x="599850" y="1569883"/>
            <a:ext cx="1180200" cy="1274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5" name="Google Shape;505;p20"/>
          <p:cNvCxnSpPr/>
          <p:nvPr/>
        </p:nvCxnSpPr>
        <p:spPr>
          <a:xfrm>
            <a:off x="1752600" y="23447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6" name="Google Shape;506;p20"/>
          <p:cNvCxnSpPr/>
          <p:nvPr/>
        </p:nvCxnSpPr>
        <p:spPr>
          <a:xfrm>
            <a:off x="3505200" y="23447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7" name="Google Shape;507;p20"/>
          <p:cNvCxnSpPr/>
          <p:nvPr/>
        </p:nvCxnSpPr>
        <p:spPr>
          <a:xfrm>
            <a:off x="5486400" y="23447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8" name="Google Shape;508;p20"/>
          <p:cNvCxnSpPr/>
          <p:nvPr/>
        </p:nvCxnSpPr>
        <p:spPr>
          <a:xfrm flipH="1">
            <a:off x="5181600" y="44021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9" name="Google Shape;509;p20"/>
          <p:cNvCxnSpPr/>
          <p:nvPr/>
        </p:nvCxnSpPr>
        <p:spPr>
          <a:xfrm>
            <a:off x="7121582" y="3033762"/>
            <a:ext cx="1500" cy="7953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0" name="Google Shape;510;p20"/>
          <p:cNvCxnSpPr/>
          <p:nvPr/>
        </p:nvCxnSpPr>
        <p:spPr>
          <a:xfrm>
            <a:off x="5257800" y="40973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1" name="Google Shape;511;p20"/>
          <p:cNvCxnSpPr/>
          <p:nvPr/>
        </p:nvCxnSpPr>
        <p:spPr>
          <a:xfrm flipH="1">
            <a:off x="5486400" y="25733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2" name="Google Shape;512;p20"/>
          <p:cNvCxnSpPr/>
          <p:nvPr/>
        </p:nvCxnSpPr>
        <p:spPr>
          <a:xfrm flipH="1" rot="10800000">
            <a:off x="6734850" y="3033733"/>
            <a:ext cx="8700" cy="7953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3" name="Google Shape;513;p20"/>
          <p:cNvSpPr txBox="1"/>
          <p:nvPr/>
        </p:nvSpPr>
        <p:spPr>
          <a:xfrm>
            <a:off x="817420" y="2763983"/>
            <a:ext cx="849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Customer</a:t>
            </a:r>
            <a:endParaRPr sz="1000"/>
          </a:p>
        </p:txBody>
      </p:sp>
      <p:sp>
        <p:nvSpPr>
          <p:cNvPr id="514" name="Google Shape;514;p20"/>
          <p:cNvSpPr txBox="1"/>
          <p:nvPr/>
        </p:nvSpPr>
        <p:spPr>
          <a:xfrm>
            <a:off x="2708565" y="2770910"/>
            <a:ext cx="82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Merchant</a:t>
            </a:r>
            <a:endParaRPr sz="1000"/>
          </a:p>
        </p:txBody>
      </p:sp>
      <p:grpSp>
        <p:nvGrpSpPr>
          <p:cNvPr id="515" name="Google Shape;515;p20"/>
          <p:cNvGrpSpPr/>
          <p:nvPr/>
        </p:nvGrpSpPr>
        <p:grpSpPr>
          <a:xfrm>
            <a:off x="4554512" y="1952745"/>
            <a:ext cx="847013" cy="1211437"/>
            <a:chOff x="4554512" y="1724145"/>
            <a:chExt cx="847013" cy="1211437"/>
          </a:xfrm>
        </p:grpSpPr>
        <p:pic>
          <p:nvPicPr>
            <p:cNvPr id="516" name="Google Shape;516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54512" y="1724145"/>
              <a:ext cx="847013" cy="847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20"/>
            <p:cNvSpPr txBox="1"/>
            <p:nvPr/>
          </p:nvSpPr>
          <p:spPr>
            <a:xfrm>
              <a:off x="4558147" y="2535382"/>
              <a:ext cx="79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Payment</a:t>
              </a: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0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Gateway</a:t>
              </a:r>
              <a:endParaRPr sz="1000"/>
            </a:p>
          </p:txBody>
        </p:sp>
      </p:grpSp>
      <p:grpSp>
        <p:nvGrpSpPr>
          <p:cNvPr id="518" name="Google Shape;518;p20"/>
          <p:cNvGrpSpPr/>
          <p:nvPr/>
        </p:nvGrpSpPr>
        <p:grpSpPr>
          <a:xfrm>
            <a:off x="6492425" y="2018769"/>
            <a:ext cx="801900" cy="1040574"/>
            <a:chOff x="6492425" y="1790169"/>
            <a:chExt cx="801900" cy="1040574"/>
          </a:xfrm>
        </p:grpSpPr>
        <p:pic>
          <p:nvPicPr>
            <p:cNvPr id="519" name="Google Shape;519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492425" y="1790169"/>
              <a:ext cx="801900" cy="7952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20"/>
            <p:cNvSpPr txBox="1"/>
            <p:nvPr/>
          </p:nvSpPr>
          <p:spPr>
            <a:xfrm>
              <a:off x="6512953" y="2584443"/>
              <a:ext cx="755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Acquirer</a:t>
              </a:r>
              <a:endParaRPr sz="1000"/>
            </a:p>
          </p:txBody>
        </p:sp>
      </p:grpSp>
      <p:grpSp>
        <p:nvGrpSpPr>
          <p:cNvPr id="521" name="Google Shape;521;p20"/>
          <p:cNvGrpSpPr/>
          <p:nvPr/>
        </p:nvGrpSpPr>
        <p:grpSpPr>
          <a:xfrm>
            <a:off x="6360999" y="3838776"/>
            <a:ext cx="1041297" cy="975924"/>
            <a:chOff x="6360999" y="3610176"/>
            <a:chExt cx="1041297" cy="975924"/>
          </a:xfrm>
        </p:grpSpPr>
        <p:pic>
          <p:nvPicPr>
            <p:cNvPr id="522" name="Google Shape;522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360999" y="3610176"/>
              <a:ext cx="1041297" cy="750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3" name="Google Shape;523;p20"/>
            <p:cNvSpPr txBox="1"/>
            <p:nvPr/>
          </p:nvSpPr>
          <p:spPr>
            <a:xfrm>
              <a:off x="6451700" y="4339800"/>
              <a:ext cx="8730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Schemes</a:t>
              </a:r>
              <a:endParaRPr sz="1000"/>
            </a:p>
          </p:txBody>
        </p:sp>
      </p:grpSp>
      <p:grpSp>
        <p:nvGrpSpPr>
          <p:cNvPr id="524" name="Google Shape;524;p20"/>
          <p:cNvGrpSpPr/>
          <p:nvPr/>
        </p:nvGrpSpPr>
        <p:grpSpPr>
          <a:xfrm>
            <a:off x="4140450" y="3623987"/>
            <a:ext cx="961899" cy="1187387"/>
            <a:chOff x="4140450" y="3395387"/>
            <a:chExt cx="961899" cy="1187387"/>
          </a:xfrm>
        </p:grpSpPr>
        <p:pic>
          <p:nvPicPr>
            <p:cNvPr id="525" name="Google Shape;525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140450" y="3395387"/>
              <a:ext cx="961899" cy="953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6" name="Google Shape;526;p20"/>
            <p:cNvSpPr txBox="1"/>
            <p:nvPr/>
          </p:nvSpPr>
          <p:spPr>
            <a:xfrm>
              <a:off x="4225635" y="4336474"/>
              <a:ext cx="5631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Issuer</a:t>
              </a:r>
              <a:endParaRPr sz="1000"/>
            </a:p>
          </p:txBody>
        </p:sp>
      </p:grpSp>
      <p:grpSp>
        <p:nvGrpSpPr>
          <p:cNvPr id="527" name="Google Shape;527;p20"/>
          <p:cNvGrpSpPr/>
          <p:nvPr/>
        </p:nvGrpSpPr>
        <p:grpSpPr>
          <a:xfrm>
            <a:off x="4138473" y="586510"/>
            <a:ext cx="1827600" cy="1073582"/>
            <a:chOff x="4138473" y="357910"/>
            <a:chExt cx="1827600" cy="1073582"/>
          </a:xfrm>
        </p:grpSpPr>
        <p:pic>
          <p:nvPicPr>
            <p:cNvPr descr="A blue and white logo with a blue and yellow lock&#10;&#10;AI-generated content may be incorrect." id="528" name="Google Shape;528;p2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485300" y="357910"/>
              <a:ext cx="897689" cy="8976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9" name="Google Shape;529;p20"/>
            <p:cNvSpPr txBox="1"/>
            <p:nvPr/>
          </p:nvSpPr>
          <p:spPr>
            <a:xfrm>
              <a:off x="4138473" y="1185192"/>
              <a:ext cx="182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Card Storage</a:t>
              </a: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 Service</a:t>
              </a:r>
              <a:endParaRPr sz="1000"/>
            </a:p>
          </p:txBody>
        </p:sp>
      </p:grpSp>
      <p:cxnSp>
        <p:nvCxnSpPr>
          <p:cNvPr id="530" name="Google Shape;530;p20"/>
          <p:cNvCxnSpPr/>
          <p:nvPr/>
        </p:nvCxnSpPr>
        <p:spPr>
          <a:xfrm rot="10800000">
            <a:off x="4978018" y="1683721"/>
            <a:ext cx="0" cy="264600"/>
          </a:xfrm>
          <a:prstGeom prst="straightConnector1">
            <a:avLst/>
          </a:prstGeom>
          <a:noFill/>
          <a:ln cap="flat" cmpd="sng" w="25400">
            <a:solidFill>
              <a:srgbClr val="92D05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531" name="Google Shape;531;p20"/>
          <p:cNvCxnSpPr/>
          <p:nvPr/>
        </p:nvCxnSpPr>
        <p:spPr>
          <a:xfrm>
            <a:off x="4788610" y="1683731"/>
            <a:ext cx="0" cy="3435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532" name="Google Shape;532;p20"/>
          <p:cNvCxnSpPr/>
          <p:nvPr/>
        </p:nvCxnSpPr>
        <p:spPr>
          <a:xfrm flipH="1">
            <a:off x="3494400" y="2566026"/>
            <a:ext cx="990900" cy="75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pic>
        <p:nvPicPr>
          <p:cNvPr descr="A calendar with arrows around it&#10;&#10;AI-generated content may be incorrect." id="533" name="Google Shape;53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flipH="1">
            <a:off x="2089119" y="1674681"/>
            <a:ext cx="367094" cy="367094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20"/>
          <p:cNvSpPr txBox="1"/>
          <p:nvPr/>
        </p:nvSpPr>
        <p:spPr>
          <a:xfrm>
            <a:off x="414000" y="187325"/>
            <a:ext cx="81108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Customer I</a:t>
            </a:r>
            <a:r>
              <a:rPr lang="en-US" sz="3200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nitiated</a:t>
            </a:r>
            <a:r>
              <a:rPr b="0" i="0" lang="en-US" sz="3200" u="none" cap="none" strike="noStrike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 Transaction (CIT)</a:t>
            </a:r>
            <a:endParaRPr b="0" i="0" sz="3200" u="none" cap="none" strike="noStrike">
              <a:solidFill>
                <a:srgbClr val="262AFF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535" name="Google Shape;535;p20"/>
          <p:cNvSpPr txBox="1"/>
          <p:nvPr/>
        </p:nvSpPr>
        <p:spPr>
          <a:xfrm>
            <a:off x="1712800" y="2031600"/>
            <a:ext cx="10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1.Card Details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6" name="Google Shape;536;p20"/>
          <p:cNvSpPr txBox="1"/>
          <p:nvPr/>
        </p:nvSpPr>
        <p:spPr>
          <a:xfrm>
            <a:off x="3541600" y="2031600"/>
            <a:ext cx="10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.Card Details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7" name="Google Shape;537;p20"/>
          <p:cNvSpPr txBox="1"/>
          <p:nvPr/>
        </p:nvSpPr>
        <p:spPr>
          <a:xfrm>
            <a:off x="5446600" y="2031600"/>
            <a:ext cx="10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3.Auth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8" name="Google Shape;538;p20"/>
          <p:cNvSpPr txBox="1"/>
          <p:nvPr/>
        </p:nvSpPr>
        <p:spPr>
          <a:xfrm>
            <a:off x="7123000" y="3174600"/>
            <a:ext cx="10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.Auth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9" name="Google Shape;539;p20"/>
          <p:cNvSpPr txBox="1"/>
          <p:nvPr/>
        </p:nvSpPr>
        <p:spPr>
          <a:xfrm>
            <a:off x="5446600" y="4393800"/>
            <a:ext cx="10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.Auth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0" name="Google Shape;540;p20"/>
          <p:cNvSpPr txBox="1"/>
          <p:nvPr/>
        </p:nvSpPr>
        <p:spPr>
          <a:xfrm>
            <a:off x="5370400" y="3784200"/>
            <a:ext cx="10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6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.Auth Res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1" name="Google Shape;541;p20"/>
          <p:cNvSpPr txBox="1"/>
          <p:nvPr/>
        </p:nvSpPr>
        <p:spPr>
          <a:xfrm>
            <a:off x="5980000" y="3327000"/>
            <a:ext cx="10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7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.Auth Res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2" name="Google Shape;542;p20"/>
          <p:cNvSpPr txBox="1"/>
          <p:nvPr/>
        </p:nvSpPr>
        <p:spPr>
          <a:xfrm>
            <a:off x="5675200" y="2565000"/>
            <a:ext cx="10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8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.Auth Res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3" name="Google Shape;543;p20"/>
          <p:cNvSpPr txBox="1"/>
          <p:nvPr/>
        </p:nvSpPr>
        <p:spPr>
          <a:xfrm>
            <a:off x="4989400" y="1650600"/>
            <a:ext cx="10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9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Card Details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4" name="Google Shape;544;p20"/>
          <p:cNvSpPr txBox="1"/>
          <p:nvPr/>
        </p:nvSpPr>
        <p:spPr>
          <a:xfrm>
            <a:off x="3998800" y="1650600"/>
            <a:ext cx="10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.Token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45" name="Google Shape;545;p20"/>
          <p:cNvSpPr txBox="1"/>
          <p:nvPr/>
        </p:nvSpPr>
        <p:spPr>
          <a:xfrm>
            <a:off x="3617800" y="2565000"/>
            <a:ext cx="104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11.Token + Auth Res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546" name="Google Shape;546;p20"/>
          <p:cNvCxnSpPr/>
          <p:nvPr/>
        </p:nvCxnSpPr>
        <p:spPr>
          <a:xfrm flipH="1">
            <a:off x="1676400" y="25733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7" name="Google Shape;547;p20"/>
          <p:cNvSpPr txBox="1"/>
          <p:nvPr/>
        </p:nvSpPr>
        <p:spPr>
          <a:xfrm>
            <a:off x="1789000" y="2565000"/>
            <a:ext cx="10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12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.Success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21" title="imag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5375" y="2078408"/>
            <a:ext cx="738875" cy="676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3" name="Google Shape;553;p21"/>
          <p:cNvCxnSpPr/>
          <p:nvPr/>
        </p:nvCxnSpPr>
        <p:spPr>
          <a:xfrm>
            <a:off x="3505200" y="23447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rgbClr val="00B0F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4" name="Google Shape;554;p21"/>
          <p:cNvCxnSpPr/>
          <p:nvPr/>
        </p:nvCxnSpPr>
        <p:spPr>
          <a:xfrm>
            <a:off x="5486400" y="23447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5" name="Google Shape;555;p21"/>
          <p:cNvCxnSpPr/>
          <p:nvPr/>
        </p:nvCxnSpPr>
        <p:spPr>
          <a:xfrm flipH="1">
            <a:off x="5181600" y="44021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6" name="Google Shape;556;p21"/>
          <p:cNvCxnSpPr/>
          <p:nvPr/>
        </p:nvCxnSpPr>
        <p:spPr>
          <a:xfrm>
            <a:off x="7121582" y="3033762"/>
            <a:ext cx="1500" cy="7953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7" name="Google Shape;557;p21"/>
          <p:cNvCxnSpPr/>
          <p:nvPr/>
        </p:nvCxnSpPr>
        <p:spPr>
          <a:xfrm>
            <a:off x="5257800" y="40973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8" name="Google Shape;558;p21"/>
          <p:cNvCxnSpPr/>
          <p:nvPr/>
        </p:nvCxnSpPr>
        <p:spPr>
          <a:xfrm flipH="1">
            <a:off x="5486400" y="2573383"/>
            <a:ext cx="980100" cy="7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9" name="Google Shape;559;p21"/>
          <p:cNvCxnSpPr/>
          <p:nvPr/>
        </p:nvCxnSpPr>
        <p:spPr>
          <a:xfrm flipH="1" rot="10800000">
            <a:off x="6734850" y="3033733"/>
            <a:ext cx="8700" cy="7953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560" name="Google Shape;560;p21"/>
          <p:cNvGrpSpPr/>
          <p:nvPr/>
        </p:nvGrpSpPr>
        <p:grpSpPr>
          <a:xfrm>
            <a:off x="599850" y="1569883"/>
            <a:ext cx="1180200" cy="1348000"/>
            <a:chOff x="599850" y="1341283"/>
            <a:chExt cx="1180200" cy="1348000"/>
          </a:xfrm>
        </p:grpSpPr>
        <p:pic>
          <p:nvPicPr>
            <p:cNvPr id="561" name="Google Shape;561;p21" title="woman-customer-online-shopping-icon-set-vector-44264173.jpg"/>
            <p:cNvPicPr preferRelativeResize="0"/>
            <p:nvPr/>
          </p:nvPicPr>
          <p:blipFill rotWithShape="1">
            <a:blip r:embed="rId4">
              <a:alphaModFix/>
            </a:blip>
            <a:srcRect b="14150" l="0" r="0" t="-14150"/>
            <a:stretch/>
          </p:blipFill>
          <p:spPr>
            <a:xfrm>
              <a:off x="599850" y="1341283"/>
              <a:ext cx="1180200" cy="12746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21"/>
            <p:cNvSpPr txBox="1"/>
            <p:nvPr/>
          </p:nvSpPr>
          <p:spPr>
            <a:xfrm>
              <a:off x="817420" y="2535383"/>
              <a:ext cx="8034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Customer</a:t>
              </a:r>
              <a:endParaRPr sz="1000"/>
            </a:p>
          </p:txBody>
        </p:sp>
      </p:grpSp>
      <p:sp>
        <p:nvSpPr>
          <p:cNvPr id="563" name="Google Shape;563;p21"/>
          <p:cNvSpPr txBox="1"/>
          <p:nvPr/>
        </p:nvSpPr>
        <p:spPr>
          <a:xfrm>
            <a:off x="2708565" y="2770910"/>
            <a:ext cx="82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Merchant</a:t>
            </a:r>
            <a:endParaRPr sz="1000"/>
          </a:p>
        </p:txBody>
      </p:sp>
      <p:grpSp>
        <p:nvGrpSpPr>
          <p:cNvPr id="564" name="Google Shape;564;p21"/>
          <p:cNvGrpSpPr/>
          <p:nvPr/>
        </p:nvGrpSpPr>
        <p:grpSpPr>
          <a:xfrm>
            <a:off x="4554512" y="1952745"/>
            <a:ext cx="847013" cy="1211437"/>
            <a:chOff x="4554512" y="1724145"/>
            <a:chExt cx="847013" cy="1211437"/>
          </a:xfrm>
        </p:grpSpPr>
        <p:pic>
          <p:nvPicPr>
            <p:cNvPr id="565" name="Google Shape;565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54512" y="1724145"/>
              <a:ext cx="847013" cy="847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21"/>
            <p:cNvSpPr txBox="1"/>
            <p:nvPr/>
          </p:nvSpPr>
          <p:spPr>
            <a:xfrm>
              <a:off x="4558147" y="2535382"/>
              <a:ext cx="79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Payment</a:t>
              </a: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000"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Gateway</a:t>
              </a:r>
              <a:endParaRPr sz="1000"/>
            </a:p>
          </p:txBody>
        </p:sp>
      </p:grpSp>
      <p:grpSp>
        <p:nvGrpSpPr>
          <p:cNvPr id="567" name="Google Shape;567;p21"/>
          <p:cNvGrpSpPr/>
          <p:nvPr/>
        </p:nvGrpSpPr>
        <p:grpSpPr>
          <a:xfrm>
            <a:off x="6492425" y="2018769"/>
            <a:ext cx="801900" cy="1040574"/>
            <a:chOff x="6492425" y="1790169"/>
            <a:chExt cx="801900" cy="1040574"/>
          </a:xfrm>
        </p:grpSpPr>
        <p:pic>
          <p:nvPicPr>
            <p:cNvPr id="568" name="Google Shape;568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492425" y="1790169"/>
              <a:ext cx="801900" cy="7952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9" name="Google Shape;569;p21"/>
            <p:cNvSpPr txBox="1"/>
            <p:nvPr/>
          </p:nvSpPr>
          <p:spPr>
            <a:xfrm>
              <a:off x="6512953" y="2584443"/>
              <a:ext cx="755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Acquirer</a:t>
              </a:r>
              <a:endParaRPr sz="1000"/>
            </a:p>
          </p:txBody>
        </p:sp>
      </p:grpSp>
      <p:grpSp>
        <p:nvGrpSpPr>
          <p:cNvPr id="570" name="Google Shape;570;p21"/>
          <p:cNvGrpSpPr/>
          <p:nvPr/>
        </p:nvGrpSpPr>
        <p:grpSpPr>
          <a:xfrm>
            <a:off x="6360999" y="3838776"/>
            <a:ext cx="1041297" cy="975924"/>
            <a:chOff x="6360999" y="3610176"/>
            <a:chExt cx="1041297" cy="975924"/>
          </a:xfrm>
        </p:grpSpPr>
        <p:pic>
          <p:nvPicPr>
            <p:cNvPr id="571" name="Google Shape;571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360999" y="3610176"/>
              <a:ext cx="1041297" cy="750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2" name="Google Shape;572;p21"/>
            <p:cNvSpPr txBox="1"/>
            <p:nvPr/>
          </p:nvSpPr>
          <p:spPr>
            <a:xfrm>
              <a:off x="6451700" y="4339800"/>
              <a:ext cx="928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Schemes</a:t>
              </a:r>
              <a:endParaRPr sz="1000"/>
            </a:p>
          </p:txBody>
        </p:sp>
      </p:grpSp>
      <p:grpSp>
        <p:nvGrpSpPr>
          <p:cNvPr id="573" name="Google Shape;573;p21"/>
          <p:cNvGrpSpPr/>
          <p:nvPr/>
        </p:nvGrpSpPr>
        <p:grpSpPr>
          <a:xfrm>
            <a:off x="4140450" y="3623987"/>
            <a:ext cx="961899" cy="1187387"/>
            <a:chOff x="4140450" y="3395387"/>
            <a:chExt cx="961899" cy="1187387"/>
          </a:xfrm>
        </p:grpSpPr>
        <p:pic>
          <p:nvPicPr>
            <p:cNvPr id="574" name="Google Shape;574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140450" y="3395387"/>
              <a:ext cx="961899" cy="953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21"/>
            <p:cNvSpPr txBox="1"/>
            <p:nvPr/>
          </p:nvSpPr>
          <p:spPr>
            <a:xfrm>
              <a:off x="4225635" y="4336474"/>
              <a:ext cx="5631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Issuer</a:t>
              </a:r>
              <a:endParaRPr sz="1000"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4138473" y="586510"/>
            <a:ext cx="1827600" cy="1073582"/>
            <a:chOff x="4138473" y="357910"/>
            <a:chExt cx="1827600" cy="1073582"/>
          </a:xfrm>
        </p:grpSpPr>
        <p:pic>
          <p:nvPicPr>
            <p:cNvPr descr="A blue and white logo with a blue and yellow lock&#10;&#10;AI-generated content may be incorrect." id="577" name="Google Shape;577;p2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485300" y="357910"/>
              <a:ext cx="897689" cy="8976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21"/>
            <p:cNvSpPr txBox="1"/>
            <p:nvPr/>
          </p:nvSpPr>
          <p:spPr>
            <a:xfrm>
              <a:off x="4138473" y="1185192"/>
              <a:ext cx="1827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B0C11"/>
                  </a:solidFill>
                  <a:latin typeface="DM Sans"/>
                  <a:ea typeface="DM Sans"/>
                  <a:cs typeface="DM Sans"/>
                  <a:sym typeface="DM Sans"/>
                </a:rPr>
                <a:t>Card Storage Service</a:t>
              </a:r>
              <a:endParaRPr sz="1000"/>
            </a:p>
          </p:txBody>
        </p:sp>
      </p:grpSp>
      <p:cxnSp>
        <p:nvCxnSpPr>
          <p:cNvPr id="579" name="Google Shape;579;p21"/>
          <p:cNvCxnSpPr/>
          <p:nvPr/>
        </p:nvCxnSpPr>
        <p:spPr>
          <a:xfrm>
            <a:off x="4998801" y="1664303"/>
            <a:ext cx="0" cy="313200"/>
          </a:xfrm>
          <a:prstGeom prst="straightConnector1">
            <a:avLst/>
          </a:prstGeom>
          <a:noFill/>
          <a:ln cap="flat" cmpd="sng" w="25400">
            <a:solidFill>
              <a:schemeClr val="l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580" name="Google Shape;580;p21"/>
          <p:cNvCxnSpPr/>
          <p:nvPr/>
        </p:nvCxnSpPr>
        <p:spPr>
          <a:xfrm rot="10800000">
            <a:off x="4831201" y="1657560"/>
            <a:ext cx="0" cy="3033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581" name="Google Shape;581;p21"/>
          <p:cNvCxnSpPr/>
          <p:nvPr/>
        </p:nvCxnSpPr>
        <p:spPr>
          <a:xfrm flipH="1">
            <a:off x="3470563" y="2538746"/>
            <a:ext cx="980100" cy="72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A calendar with arrows around it&#10;&#10;AI-generated content may be incorrect." id="582" name="Google Shape;582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flipH="1">
            <a:off x="2959746" y="1633206"/>
            <a:ext cx="367094" cy="3670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3" name="Google Shape;583;p21"/>
          <p:cNvCxnSpPr/>
          <p:nvPr/>
        </p:nvCxnSpPr>
        <p:spPr>
          <a:xfrm rot="10800000">
            <a:off x="1780065" y="2469747"/>
            <a:ext cx="928500" cy="0"/>
          </a:xfrm>
          <a:prstGeom prst="straightConnector1">
            <a:avLst/>
          </a:prstGeom>
          <a:noFill/>
          <a:ln cap="flat" cmpd="sng" w="19050">
            <a:solidFill>
              <a:srgbClr val="92D050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584" name="Google Shape;584;p21"/>
          <p:cNvSpPr txBox="1"/>
          <p:nvPr/>
        </p:nvSpPr>
        <p:spPr>
          <a:xfrm>
            <a:off x="414000" y="187325"/>
            <a:ext cx="81537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M</a:t>
            </a:r>
            <a:r>
              <a:rPr lang="en-US" sz="3200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erchant Initiated </a:t>
            </a:r>
            <a:r>
              <a:rPr b="0" i="0" lang="en-US" sz="3200" u="none" cap="none" strike="noStrike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Transaction (MIT)</a:t>
            </a:r>
            <a:endParaRPr b="0" i="0" sz="3200" u="none" cap="none" strike="noStrike">
              <a:solidFill>
                <a:srgbClr val="262AFF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585" name="Google Shape;585;p21"/>
          <p:cNvSpPr txBox="1"/>
          <p:nvPr/>
        </p:nvSpPr>
        <p:spPr>
          <a:xfrm>
            <a:off x="3617800" y="2031600"/>
            <a:ext cx="10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1.Token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6" name="Google Shape;586;p21"/>
          <p:cNvSpPr txBox="1"/>
          <p:nvPr/>
        </p:nvSpPr>
        <p:spPr>
          <a:xfrm>
            <a:off x="4151200" y="1650600"/>
            <a:ext cx="10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.Token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7" name="Google Shape;587;p21"/>
          <p:cNvSpPr txBox="1"/>
          <p:nvPr/>
        </p:nvSpPr>
        <p:spPr>
          <a:xfrm>
            <a:off x="5065600" y="1650600"/>
            <a:ext cx="10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.Card Details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8" name="Google Shape;588;p21"/>
          <p:cNvSpPr txBox="1"/>
          <p:nvPr/>
        </p:nvSpPr>
        <p:spPr>
          <a:xfrm>
            <a:off x="5446600" y="2031600"/>
            <a:ext cx="10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.Auth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9" name="Google Shape;589;p21"/>
          <p:cNvSpPr txBox="1"/>
          <p:nvPr/>
        </p:nvSpPr>
        <p:spPr>
          <a:xfrm>
            <a:off x="7123000" y="3174600"/>
            <a:ext cx="10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.Auth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0" name="Google Shape;590;p21"/>
          <p:cNvSpPr txBox="1"/>
          <p:nvPr/>
        </p:nvSpPr>
        <p:spPr>
          <a:xfrm>
            <a:off x="5370400" y="4393800"/>
            <a:ext cx="10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6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.Auth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1" name="Google Shape;591;p21"/>
          <p:cNvSpPr txBox="1"/>
          <p:nvPr/>
        </p:nvSpPr>
        <p:spPr>
          <a:xfrm>
            <a:off x="5294200" y="3784200"/>
            <a:ext cx="10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7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.Auth Res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2" name="Google Shape;592;p21"/>
          <p:cNvSpPr txBox="1"/>
          <p:nvPr/>
        </p:nvSpPr>
        <p:spPr>
          <a:xfrm>
            <a:off x="5980000" y="3250800"/>
            <a:ext cx="10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8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.Auth Res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3" name="Google Shape;593;p21"/>
          <p:cNvSpPr txBox="1"/>
          <p:nvPr/>
        </p:nvSpPr>
        <p:spPr>
          <a:xfrm>
            <a:off x="5675200" y="2565000"/>
            <a:ext cx="10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9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.Auth Res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4" name="Google Shape;594;p21"/>
          <p:cNvSpPr txBox="1"/>
          <p:nvPr/>
        </p:nvSpPr>
        <p:spPr>
          <a:xfrm>
            <a:off x="3617800" y="2488800"/>
            <a:ext cx="10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.Auth Res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5" name="Google Shape;595;p21"/>
          <p:cNvSpPr txBox="1"/>
          <p:nvPr/>
        </p:nvSpPr>
        <p:spPr>
          <a:xfrm>
            <a:off x="1865200" y="2412600"/>
            <a:ext cx="10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11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r>
              <a:rPr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Receipt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2"/>
          <p:cNvSpPr txBox="1"/>
          <p:nvPr/>
        </p:nvSpPr>
        <p:spPr>
          <a:xfrm>
            <a:off x="3928525" y="701005"/>
            <a:ext cx="48015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MOTO – Mail Order Telephone Order</a:t>
            </a:r>
            <a:endParaRPr b="0" i="0" sz="3200" u="none" cap="none" strike="noStrike">
              <a:solidFill>
                <a:srgbClr val="262AFF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601" name="Google Shape;601;p22"/>
          <p:cNvSpPr txBox="1"/>
          <p:nvPr/>
        </p:nvSpPr>
        <p:spPr>
          <a:xfrm>
            <a:off x="3928499" y="1831526"/>
            <a:ext cx="5002849" cy="30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Key Characteristics: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❑"/>
            </a:pPr>
            <a:r>
              <a:rPr b="1" i="0" lang="en-US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Card-Not-Present: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MOTO transactions are classified as card-not-present (CNP) transactions, meaning the physical card and the cardholder are not present at the point of sale.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❑"/>
            </a:pPr>
            <a:r>
              <a:rPr b="1" i="0" lang="en-US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Remote Payment: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Customers provide their payment information to the merchant through mail, email, or phone.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❑"/>
            </a:pPr>
            <a:r>
              <a:rPr b="1" i="0" lang="en-US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Manual Entry: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merchant manually enters the card details into a payment system.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❑"/>
            </a:pPr>
            <a:r>
              <a:rPr b="1" i="0" lang="en-US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Authorization</a:t>
            </a:r>
            <a:r>
              <a:rPr b="0" i="0" lang="en-US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customer authorizes the transaction by providing their card details, and the merchant then processes the payment on their behalf.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90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02" name="Google Shape;60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000" y="4724626"/>
            <a:ext cx="165175" cy="22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2"/>
          <p:cNvPicPr preferRelativeResize="0"/>
          <p:nvPr/>
        </p:nvPicPr>
        <p:blipFill rotWithShape="1">
          <a:blip r:embed="rId4">
            <a:alphaModFix/>
          </a:blip>
          <a:srcRect b="0" l="31254" r="31254" t="0"/>
          <a:stretch/>
        </p:blipFill>
        <p:spPr>
          <a:xfrm>
            <a:off x="0" y="0"/>
            <a:ext cx="3428100" cy="5143500"/>
          </a:xfrm>
          <a:prstGeom prst="round1Rect">
            <a:avLst>
              <a:gd fmla="val 7230" name="adj"/>
            </a:avLst>
          </a:prstGeom>
          <a:noFill/>
          <a:ln>
            <a:noFill/>
          </a:ln>
        </p:spPr>
      </p:pic>
      <p:pic>
        <p:nvPicPr>
          <p:cNvPr id="604" name="Google Shape;60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4000" y="4724626"/>
            <a:ext cx="165175" cy="22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3"/>
          <p:cNvSpPr txBox="1"/>
          <p:nvPr/>
        </p:nvSpPr>
        <p:spPr>
          <a:xfrm>
            <a:off x="414000" y="405300"/>
            <a:ext cx="55965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0" i="0" lang="en-US" sz="3240" u="none" cap="none" strike="noStrike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MOTO Transaction – How it Works</a:t>
            </a:r>
            <a:endParaRPr b="0" i="0" sz="3240" u="none" cap="none" strike="noStrike">
              <a:solidFill>
                <a:srgbClr val="262AFF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610" name="Google Shape;610;p23"/>
          <p:cNvSpPr txBox="1"/>
          <p:nvPr/>
        </p:nvSpPr>
        <p:spPr>
          <a:xfrm>
            <a:off x="1116900" y="4837425"/>
            <a:ext cx="4104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C4C4C4"/>
                </a:solidFill>
                <a:latin typeface="DM Sans Light"/>
                <a:ea typeface="DM Sans Light"/>
                <a:cs typeface="DM Sans Light"/>
                <a:sym typeface="DM Sans Light"/>
              </a:rPr>
              <a:t>Footer notes here</a:t>
            </a:r>
            <a:endParaRPr b="0" i="0" sz="600" u="none" cap="none" strike="noStrike">
              <a:solidFill>
                <a:srgbClr val="C4C4C4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611" name="Google Shape;611;p23"/>
          <p:cNvSpPr txBox="1"/>
          <p:nvPr/>
        </p:nvSpPr>
        <p:spPr>
          <a:xfrm>
            <a:off x="414000" y="3227019"/>
            <a:ext cx="18408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The customer places an order by phone or mail and provides their payment information.</a:t>
            </a:r>
            <a:endParaRPr b="0" i="0" sz="1200" u="none" cap="none" strike="noStrike">
              <a:solidFill>
                <a:srgbClr val="0B0C1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2" name="Google Shape;612;p23"/>
          <p:cNvSpPr txBox="1"/>
          <p:nvPr/>
        </p:nvSpPr>
        <p:spPr>
          <a:xfrm>
            <a:off x="2522725" y="3261656"/>
            <a:ext cx="18408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The merchant enters the customer's card details (card number, expiry date, etc.) into a payment terminal or virtual terminal. </a:t>
            </a:r>
            <a:endParaRPr b="0" i="0" sz="1200" u="none" cap="none" strike="noStrike">
              <a:solidFill>
                <a:srgbClr val="0B0C1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3" name="Google Shape;613;p23"/>
          <p:cNvSpPr txBox="1"/>
          <p:nvPr/>
        </p:nvSpPr>
        <p:spPr>
          <a:xfrm>
            <a:off x="4631450" y="3282439"/>
            <a:ext cx="18408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The payment is processed, and the merchant receives confirmation.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B0C1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4" name="Google Shape;614;p23"/>
          <p:cNvSpPr txBox="1"/>
          <p:nvPr/>
        </p:nvSpPr>
        <p:spPr>
          <a:xfrm>
            <a:off x="6740175" y="3275512"/>
            <a:ext cx="18408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The merchant fulfills the order based on the payment confirmation. </a:t>
            </a:r>
            <a:endParaRPr b="0" i="0" sz="1200" u="none" cap="none" strike="noStrike">
              <a:solidFill>
                <a:srgbClr val="0B0C1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5" name="Google Shape;615;p23"/>
          <p:cNvSpPr txBox="1"/>
          <p:nvPr/>
        </p:nvSpPr>
        <p:spPr>
          <a:xfrm>
            <a:off x="414000" y="2784900"/>
            <a:ext cx="1394018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Customer Initiates Order</a:t>
            </a:r>
            <a:endParaRPr b="1" i="0" sz="1400" u="none" cap="none" strike="noStrike">
              <a:solidFill>
                <a:srgbClr val="0B0C1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6" name="Google Shape;616;p23"/>
          <p:cNvSpPr txBox="1"/>
          <p:nvPr/>
        </p:nvSpPr>
        <p:spPr>
          <a:xfrm>
            <a:off x="2525550" y="2784900"/>
            <a:ext cx="12870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Merchant Enters Order</a:t>
            </a:r>
            <a:endParaRPr b="1" i="0" sz="1400" u="none" cap="none" strike="noStrike">
              <a:solidFill>
                <a:srgbClr val="0B0C1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7" name="Google Shape;617;p23"/>
          <p:cNvSpPr txBox="1"/>
          <p:nvPr/>
        </p:nvSpPr>
        <p:spPr>
          <a:xfrm>
            <a:off x="4637100" y="2784900"/>
            <a:ext cx="12870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Payment is Processed</a:t>
            </a:r>
            <a:endParaRPr b="1" i="0" sz="1400" u="none" cap="none" strike="noStrike">
              <a:solidFill>
                <a:srgbClr val="0B0C1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8" name="Google Shape;618;p23"/>
          <p:cNvSpPr txBox="1"/>
          <p:nvPr/>
        </p:nvSpPr>
        <p:spPr>
          <a:xfrm>
            <a:off x="6740150" y="2784900"/>
            <a:ext cx="1191577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Order is Fulfilled</a:t>
            </a:r>
            <a:endParaRPr b="1" i="0" sz="1400" u="none" cap="none" strike="noStrike">
              <a:solidFill>
                <a:srgbClr val="0B0C1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A blue phone symbol in a circle&#10;&#10;AI-generated content may be incorrect." id="619" name="Google Shape;61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041" y="2129814"/>
            <a:ext cx="577720" cy="577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hand pointing at a phone&#10;&#10;AI-generated content may be incorrect." id="620" name="Google Shape;62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98930" y="2182811"/>
            <a:ext cx="541351" cy="541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circle with a white phone and arrow on it&#10;&#10;AI-generated content may be incorrect." id="621" name="Google Shape;62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31450" y="2170282"/>
            <a:ext cx="547594" cy="5475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circle with a white check mark on a cellphone screen&#10;&#10;AI-generated content may be incorrect." id="622" name="Google Shape;62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3212" y="2159940"/>
            <a:ext cx="547594" cy="547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7" name="Google Shape;627;p24"/>
          <p:cNvPicPr preferRelativeResize="0"/>
          <p:nvPr/>
        </p:nvPicPr>
        <p:blipFill rotWithShape="1">
          <a:blip r:embed="rId3">
            <a:alphaModFix/>
          </a:blip>
          <a:srcRect b="0" l="18594" r="18594" t="0"/>
          <a:stretch/>
        </p:blipFill>
        <p:spPr>
          <a:xfrm>
            <a:off x="5092200" y="0"/>
            <a:ext cx="3637800" cy="4584600"/>
          </a:xfrm>
          <a:prstGeom prst="round2SameRect">
            <a:avLst>
              <a:gd fmla="val 0" name="adj1"/>
              <a:gd fmla="val 50000" name="adj2"/>
            </a:avLst>
          </a:prstGeom>
          <a:noFill/>
          <a:ln>
            <a:noFill/>
          </a:ln>
        </p:spPr>
      </p:pic>
      <p:sp>
        <p:nvSpPr>
          <p:cNvPr id="628" name="Google Shape;628;p24"/>
          <p:cNvSpPr txBox="1"/>
          <p:nvPr/>
        </p:nvSpPr>
        <p:spPr>
          <a:xfrm>
            <a:off x="414000" y="405300"/>
            <a:ext cx="46038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0" i="0" lang="en-US" sz="3240" u="none" cap="none" strike="noStrike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Security trends in MOTO Transactions</a:t>
            </a:r>
            <a:endParaRPr b="0" i="0" sz="3240" u="none" cap="none" strike="noStrike">
              <a:solidFill>
                <a:srgbClr val="262AFF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629" name="Google Shape;629;p24"/>
          <p:cNvSpPr/>
          <p:nvPr/>
        </p:nvSpPr>
        <p:spPr>
          <a:xfrm>
            <a:off x="414000" y="2238825"/>
            <a:ext cx="433500" cy="43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endParaRPr b="1" i="0" sz="14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0" name="Google Shape;630;p24"/>
          <p:cNvSpPr/>
          <p:nvPr/>
        </p:nvSpPr>
        <p:spPr>
          <a:xfrm>
            <a:off x="2522725" y="2238825"/>
            <a:ext cx="433500" cy="43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  <a:endParaRPr b="1" i="0" sz="1400" u="none" cap="none" strike="noStrik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1" name="Google Shape;631;p24"/>
          <p:cNvSpPr txBox="1"/>
          <p:nvPr/>
        </p:nvSpPr>
        <p:spPr>
          <a:xfrm>
            <a:off x="1116900" y="4837425"/>
            <a:ext cx="4104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C4C4C4"/>
                </a:solidFill>
                <a:latin typeface="DM Sans Light"/>
                <a:ea typeface="DM Sans Light"/>
                <a:cs typeface="DM Sans Light"/>
                <a:sym typeface="DM Sans Light"/>
              </a:rPr>
              <a:t>Footer notes here</a:t>
            </a:r>
            <a:endParaRPr b="0" i="0" sz="600" u="none" cap="none" strike="noStrike">
              <a:solidFill>
                <a:srgbClr val="C4C4C4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632" name="Google Shape;632;p24"/>
          <p:cNvSpPr txBox="1"/>
          <p:nvPr/>
        </p:nvSpPr>
        <p:spPr>
          <a:xfrm>
            <a:off x="414000" y="3039983"/>
            <a:ext cx="18408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For phone orders, businesses might use an interactive voice response (IVR) system that prompts the customer to enter their card details using the phone keypad.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B0C1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3" name="Google Shape;633;p24"/>
          <p:cNvSpPr txBox="1"/>
          <p:nvPr/>
        </p:nvSpPr>
        <p:spPr>
          <a:xfrm>
            <a:off x="2522725" y="3039983"/>
            <a:ext cx="18408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The merchant send link on the Customers mobile to make a payment using payment page.</a:t>
            </a:r>
            <a:endParaRPr b="0" i="0" sz="1200" u="none" cap="none" strike="noStrike">
              <a:solidFill>
                <a:srgbClr val="0B0C1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4" name="Google Shape;634;p24"/>
          <p:cNvSpPr txBox="1"/>
          <p:nvPr/>
        </p:nvSpPr>
        <p:spPr>
          <a:xfrm>
            <a:off x="414000" y="2784900"/>
            <a:ext cx="12870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IVR</a:t>
            </a:r>
            <a:endParaRPr b="1" i="0" sz="1400" u="none" cap="none" strike="noStrike">
              <a:solidFill>
                <a:srgbClr val="0B0C1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5" name="Google Shape;635;p24"/>
          <p:cNvSpPr txBox="1"/>
          <p:nvPr/>
        </p:nvSpPr>
        <p:spPr>
          <a:xfrm>
            <a:off x="2525550" y="2784900"/>
            <a:ext cx="12870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rgbClr val="0B0C11"/>
                </a:solidFill>
                <a:latin typeface="DM Sans"/>
                <a:ea typeface="DM Sans"/>
                <a:cs typeface="DM Sans"/>
                <a:sym typeface="DM Sans"/>
              </a:rPr>
              <a:t>Pay by Link</a:t>
            </a:r>
            <a:endParaRPr b="1" i="0" sz="1400" u="none" cap="none" strike="noStrike">
              <a:solidFill>
                <a:srgbClr val="0B0C1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Google Shape;640;p25" title="Customers GP 1216184746 96 dpi.jpg"/>
          <p:cNvPicPr preferRelativeResize="0"/>
          <p:nvPr/>
        </p:nvPicPr>
        <p:blipFill rotWithShape="1">
          <a:blip r:embed="rId3">
            <a:alphaModFix/>
          </a:blip>
          <a:srcRect b="8345" l="31516" r="31445" t="15077"/>
          <a:stretch/>
        </p:blipFill>
        <p:spPr>
          <a:xfrm>
            <a:off x="5874225" y="647100"/>
            <a:ext cx="2855700" cy="3937500"/>
          </a:xfrm>
          <a:prstGeom prst="roundRect">
            <a:avLst>
              <a:gd fmla="val 8677" name="adj"/>
            </a:avLst>
          </a:prstGeom>
          <a:noFill/>
          <a:ln>
            <a:noFill/>
          </a:ln>
        </p:spPr>
      </p:pic>
      <p:sp>
        <p:nvSpPr>
          <p:cNvPr id="641" name="Google Shape;641;p25"/>
          <p:cNvSpPr txBox="1"/>
          <p:nvPr/>
        </p:nvSpPr>
        <p:spPr>
          <a:xfrm>
            <a:off x="1116900" y="4837425"/>
            <a:ext cx="4104300" cy="9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C4C4C4"/>
                </a:solidFill>
                <a:latin typeface="DM Sans Light"/>
                <a:ea typeface="DM Sans Light"/>
                <a:cs typeface="DM Sans Light"/>
                <a:sym typeface="DM Sans Light"/>
              </a:rPr>
              <a:t>Footer notes here</a:t>
            </a:r>
            <a:endParaRPr b="0" i="0" sz="600" u="none" cap="none" strike="noStrike">
              <a:solidFill>
                <a:srgbClr val="C4C4C4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pic>
        <p:nvPicPr>
          <p:cNvPr descr="A white person with a question mark&#10;&#10;AI-generated content may be incorrect." id="642" name="Google Shape;64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3661" y="1427018"/>
            <a:ext cx="4018339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25"/>
          <p:cNvSpPr txBox="1"/>
          <p:nvPr/>
        </p:nvSpPr>
        <p:spPr>
          <a:xfrm>
            <a:off x="414000" y="187325"/>
            <a:ext cx="5259052" cy="5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262AFF"/>
                </a:solidFill>
                <a:latin typeface="DM Sans Black"/>
                <a:ea typeface="DM Sans Black"/>
                <a:cs typeface="DM Sans Black"/>
                <a:sym typeface="DM Sans Black"/>
              </a:rPr>
              <a:t>Questions</a:t>
            </a:r>
            <a:endParaRPr b="0" i="0" sz="3200" u="none" cap="none" strike="noStrike">
              <a:solidFill>
                <a:srgbClr val="262AFF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6"/>
          <p:cNvSpPr/>
          <p:nvPr/>
        </p:nvSpPr>
        <p:spPr>
          <a:xfrm>
            <a:off x="0" y="4584600"/>
            <a:ext cx="9144000" cy="55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9" name="Google Shape;649;p26"/>
          <p:cNvSpPr/>
          <p:nvPr/>
        </p:nvSpPr>
        <p:spPr>
          <a:xfrm>
            <a:off x="228900" y="230700"/>
            <a:ext cx="8686200" cy="4682100"/>
          </a:xfrm>
          <a:prstGeom prst="roundRect">
            <a:avLst>
              <a:gd fmla="val 421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0" name="Google Shape;650;p26"/>
          <p:cNvSpPr txBox="1"/>
          <p:nvPr/>
        </p:nvSpPr>
        <p:spPr>
          <a:xfrm>
            <a:off x="1497725" y="2734625"/>
            <a:ext cx="6148500" cy="14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DM Sans Black"/>
                <a:ea typeface="DM Sans Black"/>
                <a:cs typeface="DM Sans Black"/>
                <a:sym typeface="DM Sans Black"/>
              </a:rPr>
              <a:t>Thank you</a:t>
            </a:r>
            <a:endParaRPr b="0" i="0" sz="4200" u="none" cap="none" strike="noStrike">
              <a:solidFill>
                <a:srgbClr val="FFFFFF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pic>
        <p:nvPicPr>
          <p:cNvPr id="651" name="Google Shape;651;p26" title="global-logo-white_raster.png"/>
          <p:cNvPicPr preferRelativeResize="0"/>
          <p:nvPr/>
        </p:nvPicPr>
        <p:blipFill rotWithShape="1">
          <a:blip r:embed="rId3">
            <a:alphaModFix/>
          </a:blip>
          <a:srcRect b="159" l="0" r="0" t="159"/>
          <a:stretch/>
        </p:blipFill>
        <p:spPr>
          <a:xfrm>
            <a:off x="1600213" y="1996100"/>
            <a:ext cx="1989924" cy="301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lobal Payments 2025">
  <a:themeElements>
    <a:clrScheme name="Simple Light">
      <a:dk1>
        <a:srgbClr val="0C0C0C"/>
      </a:dk1>
      <a:lt1>
        <a:srgbClr val="FFFFFF"/>
      </a:lt1>
      <a:dk2>
        <a:srgbClr val="262AFF"/>
      </a:dk2>
      <a:lt2>
        <a:srgbClr val="1B1EC6"/>
      </a:lt2>
      <a:accent1>
        <a:srgbClr val="1CABFF"/>
      </a:accent1>
      <a:accent2>
        <a:srgbClr val="FFCC00"/>
      </a:accent2>
      <a:accent3>
        <a:srgbClr val="FDA052"/>
      </a:accent3>
      <a:accent4>
        <a:srgbClr val="87179D"/>
      </a:accent4>
      <a:accent5>
        <a:srgbClr val="F4364C"/>
      </a:accent5>
      <a:accent6>
        <a:srgbClr val="EEEEEE"/>
      </a:accent6>
      <a:hlink>
        <a:srgbClr val="C4C4C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